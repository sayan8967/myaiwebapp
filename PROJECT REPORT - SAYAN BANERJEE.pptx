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4630400" cy="8229600"/>
  <p:notesSz cx="8229600" cy="14630400"/>
  <p:embeddedFontLst>
    <p:embeddedFont>
      <p:font typeface="Montserrat" panose="00000500000000000000"/>
      <p:regular r:id="rId21"/>
    </p:embeddedFont>
    <p:embeddedFont>
      <p:font typeface="Heebo"/>
      <p:regular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fld>
            <a:endParaRPr sz="1200" b="0" i="0" u="none" strike="noStrike" cap="non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7" name="Shape 67"/>
        <p:cNvGrpSpPr/>
        <p:nvPr/>
      </p:nvGrpSpPr>
      <p:grpSpPr>
        <a:xfrm>
          <a:off x="0" y="0"/>
          <a:ext cx="0" cy="0"/>
          <a:chOff x="0" y="0"/>
          <a:chExt cx="0" cy="0"/>
        </a:xfrm>
      </p:grpSpPr>
      <p:sp>
        <p:nvSpPr>
          <p:cNvPr id="68" name="Google Shape;68;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 name="Google Shape;69;p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0" name="Google Shape;70;p1: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79" name="Shape 79"/>
        <p:cNvGrpSpPr/>
        <p:nvPr/>
      </p:nvGrpSpPr>
      <p:grpSpPr>
        <a:xfrm>
          <a:off x="0" y="0"/>
          <a:ext cx="0" cy="0"/>
          <a:chOff x="0" y="0"/>
          <a:chExt cx="0" cy="0"/>
        </a:xfrm>
      </p:grpSpPr>
      <p:sp>
        <p:nvSpPr>
          <p:cNvPr id="80" name="Google Shape;80;p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 name="Google Shape;81;p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2" name="Google Shape;82;p2: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2"/>
        <p:cNvGrpSpPr/>
        <p:nvPr/>
      </p:nvGrpSpPr>
      <p:grpSpPr>
        <a:xfrm>
          <a:off x="0" y="0"/>
          <a:ext cx="0" cy="0"/>
          <a:chOff x="0" y="0"/>
          <a:chExt cx="0" cy="0"/>
        </a:xfrm>
      </p:grpSpPr>
      <p:sp>
        <p:nvSpPr>
          <p:cNvPr id="103" name="Google Shape;103;p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 name="Google Shape;104;p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5" name="Google Shape;105;p3: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3" name="Shape 133"/>
        <p:cNvGrpSpPr/>
        <p:nvPr/>
      </p:nvGrpSpPr>
      <p:grpSpPr>
        <a:xfrm>
          <a:off x="0" y="0"/>
          <a:ext cx="0" cy="0"/>
          <a:chOff x="0" y="0"/>
          <a:chExt cx="0" cy="0"/>
        </a:xfrm>
      </p:grpSpPr>
      <p:sp>
        <p:nvSpPr>
          <p:cNvPr id="134" name="Google Shape;134;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 name="Google Shape;135;p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6" name="Google Shape;136;p4: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6" name="Shape 156"/>
        <p:cNvGrpSpPr/>
        <p:nvPr/>
      </p:nvGrpSpPr>
      <p:grpSpPr>
        <a:xfrm>
          <a:off x="0" y="0"/>
          <a:ext cx="0" cy="0"/>
          <a:chOff x="0" y="0"/>
          <a:chExt cx="0" cy="0"/>
        </a:xfrm>
      </p:grpSpPr>
      <p:sp>
        <p:nvSpPr>
          <p:cNvPr id="157" name="Google Shape;157;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9" name="Google Shape;159;p5: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3" name="Shape 173"/>
        <p:cNvGrpSpPr/>
        <p:nvPr/>
      </p:nvGrpSpPr>
      <p:grpSpPr>
        <a:xfrm>
          <a:off x="0" y="0"/>
          <a:ext cx="0" cy="0"/>
          <a:chOff x="0" y="0"/>
          <a:chExt cx="0" cy="0"/>
        </a:xfrm>
      </p:grpSpPr>
      <p:sp>
        <p:nvSpPr>
          <p:cNvPr id="174" name="Google Shape;174;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6" name="Google Shape;176;p6: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4" name="Shape 194"/>
        <p:cNvGrpSpPr/>
        <p:nvPr/>
      </p:nvGrpSpPr>
      <p:grpSpPr>
        <a:xfrm>
          <a:off x="0" y="0"/>
          <a:ext cx="0" cy="0"/>
          <a:chOff x="0" y="0"/>
          <a:chExt cx="0" cy="0"/>
        </a:xfrm>
      </p:grpSpPr>
      <p:sp>
        <p:nvSpPr>
          <p:cNvPr id="195" name="Google Shape;195;p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p7: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97" name="Google Shape;197;p7: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7" name="Shape 247"/>
        <p:cNvGrpSpPr/>
        <p:nvPr/>
      </p:nvGrpSpPr>
      <p:grpSpPr>
        <a:xfrm>
          <a:off x="0" y="0"/>
          <a:ext cx="0" cy="0"/>
          <a:chOff x="0" y="0"/>
          <a:chExt cx="0" cy="0"/>
        </a:xfrm>
      </p:grpSpPr>
      <p:sp>
        <p:nvSpPr>
          <p:cNvPr id="248" name="Google Shape;248;p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p8: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50" name="Google Shape;250;p8: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5" name="Shape 255"/>
        <p:cNvGrpSpPr/>
        <p:nvPr/>
      </p:nvGrpSpPr>
      <p:grpSpPr>
        <a:xfrm>
          <a:off x="0" y="0"/>
          <a:ext cx="0" cy="0"/>
          <a:chOff x="0" y="0"/>
          <a:chExt cx="0" cy="0"/>
        </a:xfrm>
      </p:grpSpPr>
      <p:sp>
        <p:nvSpPr>
          <p:cNvPr id="256" name="Google Shape;256;p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7" name="Google Shape;257;p9: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58" name="Google Shape;258;p9: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4" name="Shape 264"/>
        <p:cNvGrpSpPr/>
        <p:nvPr/>
      </p:nvGrpSpPr>
      <p:grpSpPr>
        <a:xfrm>
          <a:off x="0" y="0"/>
          <a:ext cx="0" cy="0"/>
          <a:chOff x="0" y="0"/>
          <a:chExt cx="0" cy="0"/>
        </a:xfrm>
      </p:grpSpPr>
      <p:sp>
        <p:nvSpPr>
          <p:cNvPr id="265" name="Google Shape;265;p1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 name="Google Shape;266;p10: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67" name="Google Shape;267;p10: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4" name="Shape 274"/>
        <p:cNvGrpSpPr/>
        <p:nvPr/>
      </p:nvGrpSpPr>
      <p:grpSpPr>
        <a:xfrm>
          <a:off x="0" y="0"/>
          <a:ext cx="0" cy="0"/>
          <a:chOff x="0" y="0"/>
          <a:chExt cx="0" cy="0"/>
        </a:xfrm>
      </p:grpSpPr>
      <p:sp>
        <p:nvSpPr>
          <p:cNvPr id="275" name="Google Shape;275;p1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6" name="Google Shape;276;p1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77" name="Google Shape;277;p11: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2" name="Shape 292"/>
        <p:cNvGrpSpPr/>
        <p:nvPr/>
      </p:nvGrpSpPr>
      <p:grpSpPr>
        <a:xfrm>
          <a:off x="0" y="0"/>
          <a:ext cx="0" cy="0"/>
          <a:chOff x="0" y="0"/>
          <a:chExt cx="0" cy="0"/>
        </a:xfrm>
      </p:grpSpPr>
      <p:sp>
        <p:nvSpPr>
          <p:cNvPr id="293" name="Google Shape;293;p1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4" name="Google Shape;294;p1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95" name="Google Shape;295;p12: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0" name="Shape 300"/>
        <p:cNvGrpSpPr/>
        <p:nvPr/>
      </p:nvGrpSpPr>
      <p:grpSpPr>
        <a:xfrm>
          <a:off x="0" y="0"/>
          <a:ext cx="0" cy="0"/>
          <a:chOff x="0" y="0"/>
          <a:chExt cx="0" cy="0"/>
        </a:xfrm>
      </p:grpSpPr>
      <p:sp>
        <p:nvSpPr>
          <p:cNvPr id="301" name="Google Shape;301;p1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p1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03" name="Google Shape;303;p13: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8" name="Shape 328"/>
        <p:cNvGrpSpPr/>
        <p:nvPr/>
      </p:nvGrpSpPr>
      <p:grpSpPr>
        <a:xfrm>
          <a:off x="0" y="0"/>
          <a:ext cx="0" cy="0"/>
          <a:chOff x="0" y="0"/>
          <a:chExt cx="0" cy="0"/>
        </a:xfrm>
      </p:grpSpPr>
      <p:sp>
        <p:nvSpPr>
          <p:cNvPr id="329" name="Google Shape;329;p1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0" name="Google Shape;330;p1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31" name="Google Shape;331;p14: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1 master">
  <p:cSld name="Slide 1 master">
    <p:spTree>
      <p:nvGrpSpPr>
        <p:cNvPr id="10" name="Shape 10"/>
        <p:cNvGrpSpPr/>
        <p:nvPr/>
      </p:nvGrpSpPr>
      <p:grpSpPr>
        <a:xfrm>
          <a:off x="0" y="0"/>
          <a:ext cx="0" cy="0"/>
          <a:chOff x="0" y="0"/>
          <a:chExt cx="0" cy="0"/>
        </a:xfrm>
      </p:grpSpPr>
      <p:pic>
        <p:nvPicPr>
          <p:cNvPr id="11" name="Google Shape;11;p2"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12" name="Google Shape;12;p2"/>
          <p:cNvSpPr/>
          <p:nvPr/>
        </p:nvSpPr>
        <p:spPr>
          <a:xfrm>
            <a:off x="0" y="0"/>
            <a:ext cx="14630400" cy="8229600"/>
          </a:xfrm>
          <a:prstGeom prst="rect">
            <a:avLst/>
          </a:prstGeom>
          <a:solidFill>
            <a:srgbClr val="0D0A2C">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13" name="Google Shape;13;p2" descr="preencoded.png">
            <a:hlinkClick r:id="rId3"/>
          </p:cNvPr>
          <p:cNvPicPr preferRelativeResize="0"/>
          <p:nvPr/>
        </p:nvPicPr>
        <p:blipFill rotWithShape="1">
          <a:blip r:embed="rId4"/>
          <a:srcRect/>
          <a:stretch>
            <a:fillRect/>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2 master">
  <p:cSld name="Slide 2 master">
    <p:spTree>
      <p:nvGrpSpPr>
        <p:cNvPr id="14" name="Shape 14"/>
        <p:cNvGrpSpPr/>
        <p:nvPr/>
      </p:nvGrpSpPr>
      <p:grpSpPr>
        <a:xfrm>
          <a:off x="0" y="0"/>
          <a:ext cx="0" cy="0"/>
          <a:chOff x="0" y="0"/>
          <a:chExt cx="0" cy="0"/>
        </a:xfrm>
      </p:grpSpPr>
      <p:pic>
        <p:nvPicPr>
          <p:cNvPr id="15" name="Google Shape;15;p3"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16" name="Google Shape;16;p3"/>
          <p:cNvSpPr/>
          <p:nvPr/>
        </p:nvSpPr>
        <p:spPr>
          <a:xfrm>
            <a:off x="0" y="0"/>
            <a:ext cx="14630400" cy="8229600"/>
          </a:xfrm>
          <a:prstGeom prst="rect">
            <a:avLst/>
          </a:prstGeom>
          <a:solidFill>
            <a:srgbClr val="0D0A2C">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17" name="Google Shape;17;p3" descr="preencoded.png">
            <a:hlinkClick r:id="rId3"/>
          </p:cNvPr>
          <p:cNvPicPr preferRelativeResize="0"/>
          <p:nvPr/>
        </p:nvPicPr>
        <p:blipFill rotWithShape="1">
          <a:blip r:embed="rId4"/>
          <a:srcRect/>
          <a:stretch>
            <a:fillRect/>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3 master">
  <p:cSld name="Slide 3 master">
    <p:spTree>
      <p:nvGrpSpPr>
        <p:cNvPr id="18" name="Shape 18"/>
        <p:cNvGrpSpPr/>
        <p:nvPr/>
      </p:nvGrpSpPr>
      <p:grpSpPr>
        <a:xfrm>
          <a:off x="0" y="0"/>
          <a:ext cx="0" cy="0"/>
          <a:chOff x="0" y="0"/>
          <a:chExt cx="0" cy="0"/>
        </a:xfrm>
      </p:grpSpPr>
      <p:pic>
        <p:nvPicPr>
          <p:cNvPr id="19" name="Google Shape;19;p4"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20" name="Google Shape;20;p4"/>
          <p:cNvSpPr/>
          <p:nvPr/>
        </p:nvSpPr>
        <p:spPr>
          <a:xfrm>
            <a:off x="0" y="0"/>
            <a:ext cx="14630400" cy="8229600"/>
          </a:xfrm>
          <a:prstGeom prst="rect">
            <a:avLst/>
          </a:prstGeom>
          <a:solidFill>
            <a:srgbClr val="0D0A2C">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21" name="Google Shape;21;p4" descr="preencoded.png">
            <a:hlinkClick r:id="rId3"/>
          </p:cNvPr>
          <p:cNvPicPr preferRelativeResize="0"/>
          <p:nvPr/>
        </p:nvPicPr>
        <p:blipFill rotWithShape="1">
          <a:blip r:embed="rId4"/>
          <a:srcRect/>
          <a:stretch>
            <a:fillRect/>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lide 4 master">
  <p:cSld name="Slide 4 master">
    <p:spTree>
      <p:nvGrpSpPr>
        <p:cNvPr id="22" name="Shape 22"/>
        <p:cNvGrpSpPr/>
        <p:nvPr/>
      </p:nvGrpSpPr>
      <p:grpSpPr>
        <a:xfrm>
          <a:off x="0" y="0"/>
          <a:ext cx="0" cy="0"/>
          <a:chOff x="0" y="0"/>
          <a:chExt cx="0" cy="0"/>
        </a:xfrm>
      </p:grpSpPr>
      <p:pic>
        <p:nvPicPr>
          <p:cNvPr id="23" name="Google Shape;23;p5"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24" name="Google Shape;24;p5"/>
          <p:cNvSpPr/>
          <p:nvPr/>
        </p:nvSpPr>
        <p:spPr>
          <a:xfrm>
            <a:off x="0" y="0"/>
            <a:ext cx="14630400" cy="8229600"/>
          </a:xfrm>
          <a:prstGeom prst="rect">
            <a:avLst/>
          </a:prstGeom>
          <a:solidFill>
            <a:srgbClr val="0D0A2C">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25" name="Google Shape;25;p5" descr="preencoded.png">
            <a:hlinkClick r:id="rId3"/>
          </p:cNvPr>
          <p:cNvPicPr preferRelativeResize="0"/>
          <p:nvPr/>
        </p:nvPicPr>
        <p:blipFill rotWithShape="1">
          <a:blip r:embed="rId4"/>
          <a:srcRect/>
          <a:stretch>
            <a:fillRect/>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lide 5 master">
  <p:cSld name="Slide 5 master">
    <p:spTree>
      <p:nvGrpSpPr>
        <p:cNvPr id="26" name="Shape 26"/>
        <p:cNvGrpSpPr/>
        <p:nvPr/>
      </p:nvGrpSpPr>
      <p:grpSpPr>
        <a:xfrm>
          <a:off x="0" y="0"/>
          <a:ext cx="0" cy="0"/>
          <a:chOff x="0" y="0"/>
          <a:chExt cx="0" cy="0"/>
        </a:xfrm>
      </p:grpSpPr>
      <p:pic>
        <p:nvPicPr>
          <p:cNvPr id="27" name="Google Shape;27;p6"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28" name="Google Shape;28;p6"/>
          <p:cNvSpPr/>
          <p:nvPr/>
        </p:nvSpPr>
        <p:spPr>
          <a:xfrm>
            <a:off x="0" y="0"/>
            <a:ext cx="14630400" cy="8229600"/>
          </a:xfrm>
          <a:prstGeom prst="rect">
            <a:avLst/>
          </a:prstGeom>
          <a:solidFill>
            <a:srgbClr val="0D0A2C">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29" name="Google Shape;29;p6" descr="preencoded.png">
            <a:hlinkClick r:id="rId3"/>
          </p:cNvPr>
          <p:cNvPicPr preferRelativeResize="0"/>
          <p:nvPr/>
        </p:nvPicPr>
        <p:blipFill rotWithShape="1">
          <a:blip r:embed="rId4"/>
          <a:srcRect/>
          <a:stretch>
            <a:fillRect/>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lide 6 master">
  <p:cSld name="Slide 6 master">
    <p:spTree>
      <p:nvGrpSpPr>
        <p:cNvPr id="30" name="Shape 30"/>
        <p:cNvGrpSpPr/>
        <p:nvPr/>
      </p:nvGrpSpPr>
      <p:grpSpPr>
        <a:xfrm>
          <a:off x="0" y="0"/>
          <a:ext cx="0" cy="0"/>
          <a:chOff x="0" y="0"/>
          <a:chExt cx="0" cy="0"/>
        </a:xfrm>
      </p:grpSpPr>
      <p:pic>
        <p:nvPicPr>
          <p:cNvPr id="31" name="Google Shape;31;p7"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32" name="Google Shape;32;p7"/>
          <p:cNvSpPr/>
          <p:nvPr/>
        </p:nvSpPr>
        <p:spPr>
          <a:xfrm>
            <a:off x="0" y="0"/>
            <a:ext cx="14630400" cy="8229600"/>
          </a:xfrm>
          <a:prstGeom prst="rect">
            <a:avLst/>
          </a:prstGeom>
          <a:solidFill>
            <a:srgbClr val="0D0A2C">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33" name="Google Shape;33;p7" descr="preencoded.png">
            <a:hlinkClick r:id="rId3"/>
          </p:cNvPr>
          <p:cNvPicPr preferRelativeResize="0"/>
          <p:nvPr/>
        </p:nvPicPr>
        <p:blipFill rotWithShape="1">
          <a:blip r:embed="rId4"/>
          <a:srcRect/>
          <a:stretch>
            <a:fillRect/>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lide 7 master">
  <p:cSld name="Slide 7 master">
    <p:spTree>
      <p:nvGrpSpPr>
        <p:cNvPr id="34" name="Shape 34"/>
        <p:cNvGrpSpPr/>
        <p:nvPr/>
      </p:nvGrpSpPr>
      <p:grpSpPr>
        <a:xfrm>
          <a:off x="0" y="0"/>
          <a:ext cx="0" cy="0"/>
          <a:chOff x="0" y="0"/>
          <a:chExt cx="0" cy="0"/>
        </a:xfrm>
      </p:grpSpPr>
      <p:pic>
        <p:nvPicPr>
          <p:cNvPr id="35" name="Google Shape;35;p8"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36" name="Google Shape;36;p8"/>
          <p:cNvSpPr/>
          <p:nvPr/>
        </p:nvSpPr>
        <p:spPr>
          <a:xfrm>
            <a:off x="0" y="0"/>
            <a:ext cx="14630400" cy="8229600"/>
          </a:xfrm>
          <a:prstGeom prst="rect">
            <a:avLst/>
          </a:prstGeom>
          <a:solidFill>
            <a:srgbClr val="0D0A2C">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37" name="Google Shape;37;p8" descr="preencoded.png">
            <a:hlinkClick r:id="rId3"/>
          </p:cNvPr>
          <p:cNvPicPr preferRelativeResize="0"/>
          <p:nvPr/>
        </p:nvPicPr>
        <p:blipFill rotWithShape="1">
          <a:blip r:embed="rId4"/>
          <a:srcRect/>
          <a:stretch>
            <a:fillRect/>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lide 8 master">
  <p:cSld name="Slide 8 master">
    <p:spTree>
      <p:nvGrpSpPr>
        <p:cNvPr id="38" name="Shape 38"/>
        <p:cNvGrpSpPr/>
        <p:nvPr/>
      </p:nvGrpSpPr>
      <p:grpSpPr>
        <a:xfrm>
          <a:off x="0" y="0"/>
          <a:ext cx="0" cy="0"/>
          <a:chOff x="0" y="0"/>
          <a:chExt cx="0" cy="0"/>
        </a:xfrm>
      </p:grpSpPr>
      <p:pic>
        <p:nvPicPr>
          <p:cNvPr id="39" name="Google Shape;39;p9"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40" name="Google Shape;40;p9"/>
          <p:cNvSpPr/>
          <p:nvPr/>
        </p:nvSpPr>
        <p:spPr>
          <a:xfrm>
            <a:off x="0" y="0"/>
            <a:ext cx="14630400" cy="8229600"/>
          </a:xfrm>
          <a:prstGeom prst="rect">
            <a:avLst/>
          </a:prstGeom>
          <a:solidFill>
            <a:srgbClr val="0D0A2C">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41" name="Google Shape;41;p9" descr="preencoded.png">
            <a:hlinkClick r:id="rId3"/>
          </p:cNvPr>
          <p:cNvPicPr preferRelativeResize="0"/>
          <p:nvPr/>
        </p:nvPicPr>
        <p:blipFill rotWithShape="1">
          <a:blip r:embed="rId4"/>
          <a:srcRect/>
          <a:stretch>
            <a:fillRect/>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lide 9 master">
  <p:cSld name="Slide 9 master">
    <p:spTree>
      <p:nvGrpSpPr>
        <p:cNvPr id="42" name="Shape 42"/>
        <p:cNvGrpSpPr/>
        <p:nvPr/>
      </p:nvGrpSpPr>
      <p:grpSpPr>
        <a:xfrm>
          <a:off x="0" y="0"/>
          <a:ext cx="0" cy="0"/>
          <a:chOff x="0" y="0"/>
          <a:chExt cx="0" cy="0"/>
        </a:xfrm>
      </p:grpSpPr>
      <p:pic>
        <p:nvPicPr>
          <p:cNvPr id="43" name="Google Shape;43;p10"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44" name="Google Shape;44;p10"/>
          <p:cNvSpPr/>
          <p:nvPr/>
        </p:nvSpPr>
        <p:spPr>
          <a:xfrm>
            <a:off x="0" y="0"/>
            <a:ext cx="14630400" cy="8229600"/>
          </a:xfrm>
          <a:prstGeom prst="rect">
            <a:avLst/>
          </a:prstGeom>
          <a:solidFill>
            <a:srgbClr val="0D0A2C">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45" name="Google Shape;45;p10" descr="preencoded.png">
            <a:hlinkClick r:id="rId3"/>
          </p:cNvPr>
          <p:cNvPicPr preferRelativeResize="0"/>
          <p:nvPr/>
        </p:nvPicPr>
        <p:blipFill rotWithShape="1">
          <a:blip r:embed="rId4"/>
          <a:srcRect/>
          <a:stretch>
            <a:fillRect/>
          </a:stretch>
        </p:blipFill>
        <p:spPr>
          <a:xfrm>
            <a:off x="12839215" y="7749540"/>
            <a:ext cx="1722605"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lide 10 master">
  <p:cSld name="Slide 10 master">
    <p:spTree>
      <p:nvGrpSpPr>
        <p:cNvPr id="46" name="Shape 46"/>
        <p:cNvGrpSpPr/>
        <p:nvPr/>
      </p:nvGrpSpPr>
      <p:grpSpPr>
        <a:xfrm>
          <a:off x="0" y="0"/>
          <a:ext cx="0" cy="0"/>
          <a:chOff x="0" y="0"/>
          <a:chExt cx="0" cy="0"/>
        </a:xfrm>
      </p:grpSpPr>
      <p:pic>
        <p:nvPicPr>
          <p:cNvPr id="47" name="Google Shape;47;p11"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48" name="Google Shape;48;p11"/>
          <p:cNvSpPr/>
          <p:nvPr/>
        </p:nvSpPr>
        <p:spPr>
          <a:xfrm>
            <a:off x="0" y="0"/>
            <a:ext cx="14630400" cy="8229600"/>
          </a:xfrm>
          <a:prstGeom prst="rect">
            <a:avLst/>
          </a:prstGeom>
          <a:solidFill>
            <a:srgbClr val="0D0A2C">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49" name="Google Shape;49;p11" descr="preencoded.png">
            <a:hlinkClick r:id="rId3"/>
          </p:cNvPr>
          <p:cNvPicPr preferRelativeResize="0"/>
          <p:nvPr/>
        </p:nvPicPr>
        <p:blipFill rotWithShape="1">
          <a:blip r:embed="rId4"/>
          <a:srcRect/>
          <a:stretch>
            <a:fillRect/>
          </a:stretch>
        </p:blipFill>
        <p:spPr>
          <a:xfrm>
            <a:off x="12839215" y="7749540"/>
            <a:ext cx="1722605" cy="4114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lide 11 master">
  <p:cSld name="Slide 11 master">
    <p:spTree>
      <p:nvGrpSpPr>
        <p:cNvPr id="50" name="Shape 50"/>
        <p:cNvGrpSpPr/>
        <p:nvPr/>
      </p:nvGrpSpPr>
      <p:grpSpPr>
        <a:xfrm>
          <a:off x="0" y="0"/>
          <a:ext cx="0" cy="0"/>
          <a:chOff x="0" y="0"/>
          <a:chExt cx="0" cy="0"/>
        </a:xfrm>
      </p:grpSpPr>
      <p:pic>
        <p:nvPicPr>
          <p:cNvPr id="51" name="Google Shape;51;p12"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52" name="Google Shape;52;p12"/>
          <p:cNvSpPr/>
          <p:nvPr/>
        </p:nvSpPr>
        <p:spPr>
          <a:xfrm>
            <a:off x="0" y="0"/>
            <a:ext cx="14630400" cy="8229600"/>
          </a:xfrm>
          <a:prstGeom prst="rect">
            <a:avLst/>
          </a:prstGeom>
          <a:solidFill>
            <a:srgbClr val="0D0A2C">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53" name="Google Shape;53;p12" descr="preencoded.png">
            <a:hlinkClick r:id="rId3"/>
          </p:cNvPr>
          <p:cNvPicPr preferRelativeResize="0"/>
          <p:nvPr/>
        </p:nvPicPr>
        <p:blipFill rotWithShape="1">
          <a:blip r:embed="rId4"/>
          <a:srcRect/>
          <a:stretch>
            <a:fillRect/>
          </a:stretch>
        </p:blipFill>
        <p:spPr>
          <a:xfrm>
            <a:off x="12839215" y="7749540"/>
            <a:ext cx="1722605" cy="41148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lide 12 master">
  <p:cSld name="Slide 12 master">
    <p:spTree>
      <p:nvGrpSpPr>
        <p:cNvPr id="54" name="Shape 54"/>
        <p:cNvGrpSpPr/>
        <p:nvPr/>
      </p:nvGrpSpPr>
      <p:grpSpPr>
        <a:xfrm>
          <a:off x="0" y="0"/>
          <a:ext cx="0" cy="0"/>
          <a:chOff x="0" y="0"/>
          <a:chExt cx="0" cy="0"/>
        </a:xfrm>
      </p:grpSpPr>
      <p:pic>
        <p:nvPicPr>
          <p:cNvPr id="55" name="Google Shape;55;p13"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56" name="Google Shape;56;p13"/>
          <p:cNvSpPr/>
          <p:nvPr/>
        </p:nvSpPr>
        <p:spPr>
          <a:xfrm>
            <a:off x="0" y="0"/>
            <a:ext cx="14630400" cy="8229600"/>
          </a:xfrm>
          <a:prstGeom prst="rect">
            <a:avLst/>
          </a:prstGeom>
          <a:solidFill>
            <a:srgbClr val="0D0A2C">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57" name="Google Shape;57;p13" descr="preencoded.png">
            <a:hlinkClick r:id="rId3"/>
          </p:cNvPr>
          <p:cNvPicPr preferRelativeResize="0"/>
          <p:nvPr/>
        </p:nvPicPr>
        <p:blipFill rotWithShape="1">
          <a:blip r:embed="rId4"/>
          <a:srcRect/>
          <a:stretch>
            <a:fillRect/>
          </a:stretch>
        </p:blipFill>
        <p:spPr>
          <a:xfrm>
            <a:off x="12839215" y="7749540"/>
            <a:ext cx="1722605" cy="41148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lide 13 master">
  <p:cSld name="Slide 13 master">
    <p:spTree>
      <p:nvGrpSpPr>
        <p:cNvPr id="58" name="Shape 58"/>
        <p:cNvGrpSpPr/>
        <p:nvPr/>
      </p:nvGrpSpPr>
      <p:grpSpPr>
        <a:xfrm>
          <a:off x="0" y="0"/>
          <a:ext cx="0" cy="0"/>
          <a:chOff x="0" y="0"/>
          <a:chExt cx="0" cy="0"/>
        </a:xfrm>
      </p:grpSpPr>
      <p:pic>
        <p:nvPicPr>
          <p:cNvPr id="59" name="Google Shape;59;p14"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60" name="Google Shape;60;p14"/>
          <p:cNvSpPr/>
          <p:nvPr/>
        </p:nvSpPr>
        <p:spPr>
          <a:xfrm>
            <a:off x="0" y="0"/>
            <a:ext cx="14630400" cy="8229600"/>
          </a:xfrm>
          <a:prstGeom prst="rect">
            <a:avLst/>
          </a:prstGeom>
          <a:solidFill>
            <a:srgbClr val="0D0A2C">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61" name="Google Shape;61;p14" descr="preencoded.png">
            <a:hlinkClick r:id="rId3"/>
          </p:cNvPr>
          <p:cNvPicPr preferRelativeResize="0"/>
          <p:nvPr/>
        </p:nvPicPr>
        <p:blipFill rotWithShape="1">
          <a:blip r:embed="rId4"/>
          <a:srcRect/>
          <a:stretch>
            <a:fillRect/>
          </a:stretch>
        </p:blipFill>
        <p:spPr>
          <a:xfrm>
            <a:off x="12839215" y="7749540"/>
            <a:ext cx="1722605" cy="41148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lide 14 master">
  <p:cSld name="Slide 14 master">
    <p:spTree>
      <p:nvGrpSpPr>
        <p:cNvPr id="62" name="Shape 62"/>
        <p:cNvGrpSpPr/>
        <p:nvPr/>
      </p:nvGrpSpPr>
      <p:grpSpPr>
        <a:xfrm>
          <a:off x="0" y="0"/>
          <a:ext cx="0" cy="0"/>
          <a:chOff x="0" y="0"/>
          <a:chExt cx="0" cy="0"/>
        </a:xfrm>
      </p:grpSpPr>
      <p:pic>
        <p:nvPicPr>
          <p:cNvPr id="63" name="Google Shape;63;p15"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64" name="Google Shape;64;p15"/>
          <p:cNvSpPr/>
          <p:nvPr/>
        </p:nvSpPr>
        <p:spPr>
          <a:xfrm>
            <a:off x="0" y="0"/>
            <a:ext cx="14630400" cy="8229600"/>
          </a:xfrm>
          <a:prstGeom prst="rect">
            <a:avLst/>
          </a:prstGeom>
          <a:solidFill>
            <a:srgbClr val="0D0A2C">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65" name="Google Shape;65;p15" descr="preencoded.png">
            <a:hlinkClick r:id="rId3"/>
          </p:cNvPr>
          <p:cNvPicPr preferRelativeResize="0"/>
          <p:nvPr/>
        </p:nvPicPr>
        <p:blipFill rotWithShape="1">
          <a:blip r:embed="rId4"/>
          <a:srcRect/>
          <a:stretch>
            <a:fillRect/>
          </a:stretch>
        </p:blipFill>
        <p:spPr>
          <a:xfrm>
            <a:off x="12839215" y="7749540"/>
            <a:ext cx="1722605" cy="41148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66" name="Shape 6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9"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image" Target="../media/image17.png"/><Relationship Id="rId7" Type="http://schemas.openxmlformats.org/officeDocument/2006/relationships/image" Target="../media/image16.png"/><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2" Type="http://schemas.openxmlformats.org/officeDocument/2006/relationships/notesSlide" Target="../notesSlides/notesSlide3.xml"/><Relationship Id="rId11" Type="http://schemas.openxmlformats.org/officeDocument/2006/relationships/slideLayout" Target="../slideLayouts/slideLayout3.xml"/><Relationship Id="rId10" Type="http://schemas.openxmlformats.org/officeDocument/2006/relationships/image" Target="../media/image19.png"/><Relationship Id="rId1" Type="http://schemas.openxmlformats.org/officeDocument/2006/relationships/image" Target="../media/image10.png"/></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image" Target="../media/image27.png"/><Relationship Id="rId7" Type="http://schemas.openxmlformats.org/officeDocument/2006/relationships/image" Target="../media/image26.png"/><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0" Type="http://schemas.openxmlformats.org/officeDocument/2006/relationships/notesSlide" Target="../notesSlides/notesSlide4.xml"/><Relationship Id="rId1" Type="http://schemas.openxmlformats.org/officeDocument/2006/relationships/image" Target="../media/image20.pn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5.xml"/><Relationship Id="rId5" Type="http://schemas.openxmlformats.org/officeDocument/2006/relationships/image" Target="../media/image30.png"/><Relationship Id="rId4" Type="http://schemas.openxmlformats.org/officeDocument/2006/relationships/hyperlink" Target="https://github.com/Sayan8967/myaiwebapp/tree/V3.Kube_Prod" TargetMode="External"/><Relationship Id="rId3" Type="http://schemas.openxmlformats.org/officeDocument/2006/relationships/image" Target="../media/image29.png"/><Relationship Id="rId2" Type="http://schemas.openxmlformats.org/officeDocument/2006/relationships/hyperlink" Target="https://hub.docker.com/search?q=sayan896" TargetMode="External"/><Relationship Id="rId1" Type="http://schemas.openxmlformats.org/officeDocument/2006/relationships/image" Target="../media/image28.png"/></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6.xml"/><Relationship Id="rId5" Type="http://schemas.openxmlformats.org/officeDocument/2006/relationships/image" Target="../media/image35.png"/><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slideLayout" Target="../slideLayouts/slideLayout7.xml"/><Relationship Id="rId7" Type="http://schemas.openxmlformats.org/officeDocument/2006/relationships/hyperlink" Target="https://github.com/Sayan8967/myaiwebapp/blob/V3.Kube_Prod/terraform-deployment.tf" TargetMode="Externa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image" Target="../media/image42.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9.xml"/><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0.xml"/><Relationship Id="rId4" Type="http://schemas.openxmlformats.org/officeDocument/2006/relationships/image" Target="../media/image49.png"/><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image" Target="../media/image46.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1.xml"/><Relationship Id="rId2" Type="http://schemas.openxmlformats.org/officeDocument/2006/relationships/hyperlink" Target="https://ollama.com/library/llama3.2:1b" TargetMode="External"/><Relationship Id="rId1" Type="http://schemas.openxmlformats.org/officeDocument/2006/relationships/image" Target="../media/image50.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2.xml"/><Relationship Id="rId2" Type="http://schemas.openxmlformats.org/officeDocument/2006/relationships/image" Target="../media/image52.png"/><Relationship Id="rId1" Type="http://schemas.openxmlformats.org/officeDocument/2006/relationships/image" Target="../media/image5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image" Target="../media/image53.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4.xml"/><Relationship Id="rId4" Type="http://schemas.openxmlformats.org/officeDocument/2006/relationships/image" Target="../media/image57.png"/><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71" name="Shape 71"/>
        <p:cNvGrpSpPr/>
        <p:nvPr/>
      </p:nvGrpSpPr>
      <p:grpSpPr>
        <a:xfrm>
          <a:off x="0" y="0"/>
          <a:ext cx="0" cy="0"/>
          <a:chOff x="0" y="0"/>
          <a:chExt cx="0" cy="0"/>
        </a:xfrm>
      </p:grpSpPr>
      <p:pic>
        <p:nvPicPr>
          <p:cNvPr id="72" name="Google Shape;72;p17" descr="preencoded.png"/>
          <p:cNvPicPr preferRelativeResize="0"/>
          <p:nvPr/>
        </p:nvPicPr>
        <p:blipFill rotWithShape="1">
          <a:blip r:embed="rId1"/>
          <a:srcRect/>
          <a:stretch>
            <a:fillRect/>
          </a:stretch>
        </p:blipFill>
        <p:spPr>
          <a:xfrm>
            <a:off x="9144000" y="0"/>
            <a:ext cx="5486400" cy="8229600"/>
          </a:xfrm>
          <a:prstGeom prst="rect">
            <a:avLst/>
          </a:prstGeom>
          <a:noFill/>
          <a:ln>
            <a:noFill/>
          </a:ln>
        </p:spPr>
      </p:pic>
      <p:sp>
        <p:nvSpPr>
          <p:cNvPr id="73" name="Google Shape;73;p17"/>
          <p:cNvSpPr/>
          <p:nvPr/>
        </p:nvSpPr>
        <p:spPr>
          <a:xfrm>
            <a:off x="793790" y="976313"/>
            <a:ext cx="7556421" cy="2126337"/>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2F0F4"/>
              </a:buClr>
              <a:buSzPts val="4450"/>
              <a:buFont typeface="Montserrat" panose="00000500000000000000"/>
              <a:buNone/>
            </a:pPr>
            <a:r>
              <a:rPr lang="en-US" sz="4450" b="1" i="0" u="none" strike="noStrike" cap="none">
                <a:ln w="15875"/>
                <a:gradFill>
                  <a:gsLst>
                    <a:gs pos="0">
                      <a:schemeClr val="accent1">
                        <a:hueMod val="80000"/>
                      </a:schemeClr>
                    </a:gs>
                    <a:gs pos="100000">
                      <a:schemeClr val="accent1">
                        <a:alpha val="100000"/>
                      </a:schemeClr>
                    </a:gs>
                  </a:gsLst>
                  <a:lin ang="2700000" scaled="0"/>
                </a:gradFill>
                <a:effectLst/>
                <a:latin typeface="Montserrat" panose="00000500000000000000"/>
                <a:ea typeface="Montserrat" panose="00000500000000000000"/>
                <a:cs typeface="Montserrat" panose="00000500000000000000"/>
                <a:sym typeface="Montserrat" panose="00000500000000000000"/>
              </a:rPr>
              <a:t>AI Integration in Mount Sinai Health System: A Cloud-Native Approach</a:t>
            </a:r>
            <a:endParaRPr lang="en-US" sz="4450" b="1" i="0" u="none" strike="noStrike" cap="none">
              <a:ln w="15875"/>
              <a:gradFill>
                <a:gsLst>
                  <a:gs pos="0">
                    <a:schemeClr val="accent1">
                      <a:hueMod val="80000"/>
                    </a:schemeClr>
                  </a:gs>
                  <a:gs pos="100000">
                    <a:schemeClr val="accent1">
                      <a:alpha val="100000"/>
                    </a:schemeClr>
                  </a:gs>
                </a:gsLst>
                <a:lin ang="2700000" scaled="0"/>
              </a:gradFill>
              <a:effectLst/>
              <a:latin typeface="Montserrat" panose="00000500000000000000"/>
              <a:ea typeface="Montserrat" panose="00000500000000000000"/>
              <a:cs typeface="Montserrat" panose="00000500000000000000"/>
              <a:sym typeface="Montserrat" panose="00000500000000000000"/>
            </a:endParaRPr>
          </a:p>
        </p:txBody>
      </p:sp>
      <p:sp>
        <p:nvSpPr>
          <p:cNvPr id="74" name="Google Shape;74;p17"/>
          <p:cNvSpPr/>
          <p:nvPr/>
        </p:nvSpPr>
        <p:spPr>
          <a:xfrm>
            <a:off x="793790" y="3442811"/>
            <a:ext cx="7556421" cy="1451610"/>
          </a:xfrm>
          <a:prstGeom prst="rect">
            <a:avLst/>
          </a:prstGeom>
          <a:noFill/>
          <a:ln>
            <a:noFill/>
          </a:ln>
        </p:spPr>
        <p:txBody>
          <a:bodyPr spcFirstLastPara="1" wrap="square" lIns="0" tIns="0" rIns="0" bIns="0" anchor="t" anchorCtr="0">
            <a:noAutofit/>
          </a:bodyPr>
          <a:lstStyle/>
          <a:p>
            <a:pPr marL="0" marR="0" lvl="0" indent="0" algn="l" rtl="0">
              <a:lnSpc>
                <a:spcPct val="163000"/>
              </a:lnSpc>
              <a:spcBef>
                <a:spcPts val="0"/>
              </a:spcBef>
              <a:spcAft>
                <a:spcPts val="0"/>
              </a:spcAft>
              <a:buClr>
                <a:srgbClr val="DCD7E5"/>
              </a:buClr>
              <a:buSzPts val="1750"/>
              <a:buFont typeface="Heebo"/>
              <a:buNone/>
            </a:pPr>
            <a:r>
              <a:rPr lang="en-US" sz="1750" b="0" i="0" u="none" strike="noStrike" cap="none">
                <a:solidFill>
                  <a:srgbClr val="DCD7E5"/>
                </a:solidFill>
                <a:latin typeface="Heebo"/>
                <a:ea typeface="Heebo"/>
                <a:cs typeface="Heebo"/>
                <a:sym typeface="Heebo"/>
              </a:rPr>
              <a:t>Welcome to my presentation on the implementation of AI capabilities for Mount Sinai Health System's website. I will walk through the comprehensive solution that enables patients to submit medical queries and receive responses powered by a fine-tuned LLaMA model.</a:t>
            </a:r>
            <a:endParaRPr sz="1750" b="0" i="0" u="none" strike="noStrike" cap="none"/>
          </a:p>
        </p:txBody>
      </p:sp>
      <p:sp>
        <p:nvSpPr>
          <p:cNvPr id="75" name="Google Shape;75;p17"/>
          <p:cNvSpPr/>
          <p:nvPr/>
        </p:nvSpPr>
        <p:spPr>
          <a:xfrm>
            <a:off x="793790" y="5149572"/>
            <a:ext cx="7556421" cy="1451610"/>
          </a:xfrm>
          <a:prstGeom prst="rect">
            <a:avLst/>
          </a:prstGeom>
          <a:noFill/>
          <a:ln>
            <a:noFill/>
          </a:ln>
        </p:spPr>
        <p:txBody>
          <a:bodyPr spcFirstLastPara="1" wrap="square" lIns="0" tIns="0" rIns="0" bIns="0" anchor="t" anchorCtr="0">
            <a:noAutofit/>
          </a:bodyPr>
          <a:lstStyle/>
          <a:p>
            <a:pPr marL="0" marR="0" lvl="0" indent="0" algn="l" rtl="0">
              <a:lnSpc>
                <a:spcPct val="163000"/>
              </a:lnSpc>
              <a:spcBef>
                <a:spcPts val="0"/>
              </a:spcBef>
              <a:spcAft>
                <a:spcPts val="0"/>
              </a:spcAft>
              <a:buClr>
                <a:srgbClr val="DCD7E5"/>
              </a:buClr>
              <a:buSzPts val="1750"/>
              <a:buFont typeface="Heebo"/>
              <a:buNone/>
            </a:pPr>
            <a:r>
              <a:rPr lang="en-US" sz="1750" b="0" i="0" u="none" strike="noStrike" cap="none">
                <a:solidFill>
                  <a:srgbClr val="DCD7E5"/>
                </a:solidFill>
                <a:latin typeface="Heebo"/>
                <a:ea typeface="Heebo"/>
                <a:cs typeface="Heebo"/>
                <a:sym typeface="Heebo"/>
              </a:rPr>
              <a:t>This cloud-native application leverages Kubernetes, Azure services, and modern DevOps practices to create a scalable, secure, and maintainable system. We will explore the architecture, implementation details, and deployment processes that make this solution possible.</a:t>
            </a:r>
            <a:endParaRPr sz="1750" b="0" i="0" u="none" strike="noStrike" cap="none"/>
          </a:p>
        </p:txBody>
      </p:sp>
      <p:sp>
        <p:nvSpPr>
          <p:cNvPr id="76" name="Google Shape;76;p17"/>
          <p:cNvSpPr/>
          <p:nvPr/>
        </p:nvSpPr>
        <p:spPr>
          <a:xfrm>
            <a:off x="793790" y="6873240"/>
            <a:ext cx="362903" cy="362903"/>
          </a:xfrm>
          <a:prstGeom prst="roundRect">
            <a:avLst>
              <a:gd name="adj" fmla="val 25194296"/>
            </a:avLst>
          </a:prstGeom>
          <a:noFill/>
          <a:ln w="9525" cap="flat" cmpd="sng">
            <a:solidFill>
              <a:srgbClr val="3C38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77" name="Google Shape;77;p17" descr="preencoded.png"/>
          <p:cNvPicPr preferRelativeResize="0"/>
          <p:nvPr/>
        </p:nvPicPr>
        <p:blipFill rotWithShape="1">
          <a:blip r:embed="rId2"/>
          <a:srcRect/>
          <a:stretch>
            <a:fillRect/>
          </a:stretch>
        </p:blipFill>
        <p:spPr>
          <a:xfrm>
            <a:off x="801410" y="6880860"/>
            <a:ext cx="347663" cy="347663"/>
          </a:xfrm>
          <a:prstGeom prst="rect">
            <a:avLst/>
          </a:prstGeom>
          <a:noFill/>
          <a:ln>
            <a:noFill/>
          </a:ln>
        </p:spPr>
      </p:pic>
      <p:sp>
        <p:nvSpPr>
          <p:cNvPr id="78" name="Google Shape;78;p17"/>
          <p:cNvSpPr/>
          <p:nvPr/>
        </p:nvSpPr>
        <p:spPr>
          <a:xfrm>
            <a:off x="1270000" y="6856095"/>
            <a:ext cx="3321685" cy="937260"/>
          </a:xfrm>
          <a:prstGeom prst="rect">
            <a:avLst/>
          </a:prstGeom>
          <a:noFill/>
          <a:ln>
            <a:noFill/>
          </a:ln>
        </p:spPr>
        <p:txBody>
          <a:bodyPr spcFirstLastPara="1" wrap="square" lIns="0" tIns="0" rIns="0" bIns="0" anchor="t" anchorCtr="0">
            <a:noAutofit/>
          </a:bodyPr>
          <a:lstStyle/>
          <a:p>
            <a:pPr marL="0" marR="0" lvl="0" indent="0" algn="l" rtl="0">
              <a:lnSpc>
                <a:spcPct val="141000"/>
              </a:lnSpc>
              <a:spcBef>
                <a:spcPts val="0"/>
              </a:spcBef>
              <a:spcAft>
                <a:spcPts val="0"/>
              </a:spcAft>
              <a:buClr>
                <a:srgbClr val="DCD7E5"/>
              </a:buClr>
              <a:buSzPts val="2200"/>
              <a:buFont typeface="Heebo"/>
              <a:buNone/>
            </a:pPr>
            <a:r>
              <a:rPr lang="en-US" sz="2200" b="1" i="1" u="none" strike="noStrike" cap="none">
                <a:solidFill>
                  <a:srgbClr val="DCD7E5"/>
                </a:solidFill>
                <a:latin typeface="Heebo"/>
                <a:ea typeface="Heebo"/>
                <a:cs typeface="Heebo"/>
                <a:sym typeface="Heebo"/>
              </a:rPr>
              <a:t>by Sayan Banerjee</a:t>
            </a:r>
            <a:endParaRPr sz="2200" b="0" i="1" u="none" strike="noStrike" cap="non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83" name="Shape 83"/>
        <p:cNvGrpSpPr/>
        <p:nvPr/>
      </p:nvGrpSpPr>
      <p:grpSpPr>
        <a:xfrm>
          <a:off x="0" y="0"/>
          <a:ext cx="0" cy="0"/>
          <a:chOff x="0" y="0"/>
          <a:chExt cx="0" cy="0"/>
        </a:xfrm>
      </p:grpSpPr>
      <p:pic>
        <p:nvPicPr>
          <p:cNvPr id="84" name="Google Shape;84;p18" descr="preencoded.png"/>
          <p:cNvPicPr preferRelativeResize="0"/>
          <p:nvPr/>
        </p:nvPicPr>
        <p:blipFill rotWithShape="1">
          <a:blip r:embed="rId1"/>
          <a:srcRect/>
          <a:stretch>
            <a:fillRect/>
          </a:stretch>
        </p:blipFill>
        <p:spPr>
          <a:xfrm>
            <a:off x="9144000" y="0"/>
            <a:ext cx="5486400" cy="8230195"/>
          </a:xfrm>
          <a:prstGeom prst="rect">
            <a:avLst/>
          </a:prstGeom>
          <a:noFill/>
          <a:ln>
            <a:noFill/>
          </a:ln>
        </p:spPr>
      </p:pic>
      <p:sp>
        <p:nvSpPr>
          <p:cNvPr id="85" name="Google Shape;85;p18"/>
          <p:cNvSpPr/>
          <p:nvPr/>
        </p:nvSpPr>
        <p:spPr>
          <a:xfrm>
            <a:off x="682704" y="536377"/>
            <a:ext cx="7778591" cy="12192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2F0F4"/>
              </a:buClr>
              <a:buSzPts val="3800"/>
              <a:buFont typeface="Montserrat" panose="00000500000000000000"/>
              <a:buNone/>
            </a:pPr>
            <a:r>
              <a:rPr lang="en-US" sz="3800" b="1" i="0" u="none" strike="noStrike" cap="none">
                <a:solidFill>
                  <a:srgbClr val="F2F0F4"/>
                </a:solidFill>
                <a:latin typeface="Montserrat" panose="00000500000000000000"/>
                <a:ea typeface="Montserrat" panose="00000500000000000000"/>
                <a:cs typeface="Montserrat" panose="00000500000000000000"/>
                <a:sym typeface="Montserrat" panose="00000500000000000000"/>
              </a:rPr>
              <a:t>Project Requirements &amp; Analysis</a:t>
            </a:r>
            <a:endParaRPr sz="3800" b="0" i="0" u="none" strike="noStrike" cap="none"/>
          </a:p>
        </p:txBody>
      </p:sp>
      <p:sp>
        <p:nvSpPr>
          <p:cNvPr id="86" name="Google Shape;86;p18"/>
          <p:cNvSpPr/>
          <p:nvPr/>
        </p:nvSpPr>
        <p:spPr>
          <a:xfrm>
            <a:off x="682704" y="2267545"/>
            <a:ext cx="438864" cy="438864"/>
          </a:xfrm>
          <a:prstGeom prst="roundRect">
            <a:avLst>
              <a:gd name="adj" fmla="val 18669"/>
            </a:avLst>
          </a:prstGeom>
          <a:solidFill>
            <a:srgbClr val="31136C"/>
          </a:solidFill>
          <a:ln w="9525" cap="flat" cmpd="sng">
            <a:solidFill>
              <a:srgbClr val="4A2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87" name="Google Shape;87;p18" descr="preencoded.png"/>
          <p:cNvPicPr preferRelativeResize="0"/>
          <p:nvPr/>
        </p:nvPicPr>
        <p:blipFill rotWithShape="1">
          <a:blip r:embed="rId2"/>
          <a:srcRect/>
          <a:stretch>
            <a:fillRect/>
          </a:stretch>
        </p:blipFill>
        <p:spPr>
          <a:xfrm>
            <a:off x="755868" y="2304157"/>
            <a:ext cx="292537" cy="365641"/>
          </a:xfrm>
          <a:prstGeom prst="rect">
            <a:avLst/>
          </a:prstGeom>
          <a:noFill/>
          <a:ln>
            <a:noFill/>
          </a:ln>
        </p:spPr>
      </p:pic>
      <p:sp>
        <p:nvSpPr>
          <p:cNvPr id="88" name="Google Shape;88;p18"/>
          <p:cNvSpPr/>
          <p:nvPr/>
        </p:nvSpPr>
        <p:spPr>
          <a:xfrm>
            <a:off x="1316593" y="2267545"/>
            <a:ext cx="2820114" cy="304800"/>
          </a:xfrm>
          <a:prstGeom prst="rect">
            <a:avLst/>
          </a:prstGeom>
          <a:noFill/>
          <a:ln>
            <a:noFill/>
          </a:ln>
        </p:spPr>
        <p:txBody>
          <a:bodyPr spcFirstLastPara="1" wrap="square" lIns="0" tIns="0" rIns="0" bIns="0" anchor="t" anchorCtr="0">
            <a:noAutofit/>
          </a:bodyPr>
          <a:lstStyle/>
          <a:p>
            <a:pPr marL="0" marR="0" lvl="0" indent="0" algn="l" rtl="0">
              <a:lnSpc>
                <a:spcPct val="126000"/>
              </a:lnSpc>
              <a:spcBef>
                <a:spcPts val="0"/>
              </a:spcBef>
              <a:spcAft>
                <a:spcPts val="0"/>
              </a:spcAft>
              <a:buClr>
                <a:srgbClr val="DCD7E5"/>
              </a:buClr>
              <a:buSzPts val="1900"/>
              <a:buFont typeface="Montserrat" panose="00000500000000000000"/>
              <a:buNone/>
            </a:pPr>
            <a:r>
              <a:rPr lang="en-US" sz="190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Management Directive</a:t>
            </a:r>
            <a:endParaRPr sz="1900" b="0" i="0" u="none" strike="noStrike" cap="none"/>
          </a:p>
        </p:txBody>
      </p:sp>
      <p:sp>
        <p:nvSpPr>
          <p:cNvPr id="89" name="Google Shape;89;p18"/>
          <p:cNvSpPr/>
          <p:nvPr/>
        </p:nvSpPr>
        <p:spPr>
          <a:xfrm>
            <a:off x="1316593" y="2689384"/>
            <a:ext cx="7144703" cy="623887"/>
          </a:xfrm>
          <a:prstGeom prst="rect">
            <a:avLst/>
          </a:prstGeom>
          <a:noFill/>
          <a:ln>
            <a:noFill/>
          </a:ln>
        </p:spPr>
        <p:txBody>
          <a:bodyPr spcFirstLastPara="1" wrap="square" lIns="0" tIns="0" rIns="0" bIns="0" anchor="t" anchorCtr="0">
            <a:noAutofit/>
          </a:bodyPr>
          <a:lstStyle/>
          <a:p>
            <a:pPr marL="0" marR="0" lvl="0" indent="0" algn="l" rtl="0">
              <a:lnSpc>
                <a:spcPct val="163000"/>
              </a:lnSpc>
              <a:spcBef>
                <a:spcPts val="0"/>
              </a:spcBef>
              <a:spcAft>
                <a:spcPts val="0"/>
              </a:spcAft>
              <a:buClr>
                <a:srgbClr val="DCD7E5"/>
              </a:buClr>
              <a:buSzPts val="1500"/>
              <a:buFont typeface="Heebo"/>
              <a:buNone/>
            </a:pPr>
            <a:r>
              <a:rPr lang="en-US" sz="1500" b="0" i="0" u="none" strike="noStrike" cap="none">
                <a:solidFill>
                  <a:srgbClr val="DCD7E5"/>
                </a:solidFill>
                <a:latin typeface="Heebo"/>
                <a:ea typeface="Heebo"/>
                <a:cs typeface="Heebo"/>
                <a:sym typeface="Heebo"/>
              </a:rPr>
              <a:t>Enhance Mount Sinai's website with AI capabilities for patient queries about medications, diseases, treatments, and health information</a:t>
            </a:r>
            <a:endParaRPr sz="1500" b="0" i="0" u="none" strike="noStrike" cap="none"/>
          </a:p>
        </p:txBody>
      </p:sp>
      <p:sp>
        <p:nvSpPr>
          <p:cNvPr id="90" name="Google Shape;90;p18"/>
          <p:cNvSpPr/>
          <p:nvPr/>
        </p:nvSpPr>
        <p:spPr>
          <a:xfrm>
            <a:off x="682704" y="3727728"/>
            <a:ext cx="438864" cy="438864"/>
          </a:xfrm>
          <a:prstGeom prst="roundRect">
            <a:avLst>
              <a:gd name="adj" fmla="val 18669"/>
            </a:avLst>
          </a:prstGeom>
          <a:solidFill>
            <a:srgbClr val="31136C"/>
          </a:solidFill>
          <a:ln w="9525" cap="flat" cmpd="sng">
            <a:solidFill>
              <a:srgbClr val="4A2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91" name="Google Shape;91;p18" descr="preencoded.png"/>
          <p:cNvPicPr preferRelativeResize="0"/>
          <p:nvPr/>
        </p:nvPicPr>
        <p:blipFill rotWithShape="1">
          <a:blip r:embed="rId3"/>
          <a:srcRect/>
          <a:stretch>
            <a:fillRect/>
          </a:stretch>
        </p:blipFill>
        <p:spPr>
          <a:xfrm>
            <a:off x="755868" y="3764340"/>
            <a:ext cx="292537" cy="365641"/>
          </a:xfrm>
          <a:prstGeom prst="rect">
            <a:avLst/>
          </a:prstGeom>
          <a:noFill/>
          <a:ln>
            <a:noFill/>
          </a:ln>
        </p:spPr>
      </p:pic>
      <p:sp>
        <p:nvSpPr>
          <p:cNvPr id="92" name="Google Shape;92;p18"/>
          <p:cNvSpPr/>
          <p:nvPr/>
        </p:nvSpPr>
        <p:spPr>
          <a:xfrm>
            <a:off x="1316593" y="3727728"/>
            <a:ext cx="2962751" cy="304800"/>
          </a:xfrm>
          <a:prstGeom prst="rect">
            <a:avLst/>
          </a:prstGeom>
          <a:noFill/>
          <a:ln>
            <a:noFill/>
          </a:ln>
        </p:spPr>
        <p:txBody>
          <a:bodyPr spcFirstLastPara="1" wrap="square" lIns="0" tIns="0" rIns="0" bIns="0" anchor="t" anchorCtr="0">
            <a:noAutofit/>
          </a:bodyPr>
          <a:lstStyle/>
          <a:p>
            <a:pPr marL="0" marR="0" lvl="0" indent="0" algn="l" rtl="0">
              <a:lnSpc>
                <a:spcPct val="126000"/>
              </a:lnSpc>
              <a:spcBef>
                <a:spcPts val="0"/>
              </a:spcBef>
              <a:spcAft>
                <a:spcPts val="0"/>
              </a:spcAft>
              <a:buClr>
                <a:srgbClr val="DCD7E5"/>
              </a:buClr>
              <a:buSzPts val="1900"/>
              <a:buFont typeface="Montserrat" panose="00000500000000000000"/>
              <a:buNone/>
            </a:pPr>
            <a:r>
              <a:rPr lang="en-US" sz="190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Technical Requirements</a:t>
            </a:r>
            <a:endParaRPr sz="1900" b="0" i="0" u="none" strike="noStrike" cap="none"/>
          </a:p>
        </p:txBody>
      </p:sp>
      <p:sp>
        <p:nvSpPr>
          <p:cNvPr id="93" name="Google Shape;93;p18"/>
          <p:cNvSpPr/>
          <p:nvPr/>
        </p:nvSpPr>
        <p:spPr>
          <a:xfrm>
            <a:off x="1316593" y="4149566"/>
            <a:ext cx="7144703" cy="623887"/>
          </a:xfrm>
          <a:prstGeom prst="rect">
            <a:avLst/>
          </a:prstGeom>
          <a:noFill/>
          <a:ln>
            <a:noFill/>
          </a:ln>
        </p:spPr>
        <p:txBody>
          <a:bodyPr spcFirstLastPara="1" wrap="square" lIns="0" tIns="0" rIns="0" bIns="0" anchor="t" anchorCtr="0">
            <a:noAutofit/>
          </a:bodyPr>
          <a:lstStyle/>
          <a:p>
            <a:pPr marL="0" marR="0" lvl="0" indent="0" algn="l" rtl="0">
              <a:lnSpc>
                <a:spcPct val="163000"/>
              </a:lnSpc>
              <a:spcBef>
                <a:spcPts val="0"/>
              </a:spcBef>
              <a:spcAft>
                <a:spcPts val="0"/>
              </a:spcAft>
              <a:buClr>
                <a:srgbClr val="DCD7E5"/>
              </a:buClr>
              <a:buSzPts val="1500"/>
              <a:buFont typeface="Heebo"/>
              <a:buNone/>
            </a:pPr>
            <a:r>
              <a:rPr lang="en-US" sz="1500" b="0" i="0" u="none" strike="noStrike" cap="none">
                <a:solidFill>
                  <a:srgbClr val="DCD7E5"/>
                </a:solidFill>
                <a:latin typeface="Heebo"/>
                <a:ea typeface="Heebo"/>
                <a:cs typeface="Heebo"/>
                <a:sym typeface="Heebo"/>
              </a:rPr>
              <a:t>Scalable microservices architecture with minimal response delays, seamless integration with existing website</a:t>
            </a:r>
            <a:endParaRPr sz="1500" b="0" i="0" u="none" strike="noStrike" cap="none"/>
          </a:p>
        </p:txBody>
      </p:sp>
      <p:sp>
        <p:nvSpPr>
          <p:cNvPr id="94" name="Google Shape;94;p18"/>
          <p:cNvSpPr/>
          <p:nvPr/>
        </p:nvSpPr>
        <p:spPr>
          <a:xfrm>
            <a:off x="682704" y="5187910"/>
            <a:ext cx="438864" cy="438864"/>
          </a:xfrm>
          <a:prstGeom prst="roundRect">
            <a:avLst>
              <a:gd name="adj" fmla="val 18669"/>
            </a:avLst>
          </a:prstGeom>
          <a:solidFill>
            <a:srgbClr val="31136C"/>
          </a:solidFill>
          <a:ln w="9525" cap="flat" cmpd="sng">
            <a:solidFill>
              <a:srgbClr val="4A2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95" name="Google Shape;95;p18" descr="preencoded.png"/>
          <p:cNvPicPr preferRelativeResize="0"/>
          <p:nvPr/>
        </p:nvPicPr>
        <p:blipFill rotWithShape="1">
          <a:blip r:embed="rId4"/>
          <a:srcRect/>
          <a:stretch>
            <a:fillRect/>
          </a:stretch>
        </p:blipFill>
        <p:spPr>
          <a:xfrm>
            <a:off x="755868" y="5224522"/>
            <a:ext cx="292537" cy="365641"/>
          </a:xfrm>
          <a:prstGeom prst="rect">
            <a:avLst/>
          </a:prstGeom>
          <a:noFill/>
          <a:ln>
            <a:noFill/>
          </a:ln>
        </p:spPr>
      </p:pic>
      <p:sp>
        <p:nvSpPr>
          <p:cNvPr id="96" name="Google Shape;96;p18"/>
          <p:cNvSpPr/>
          <p:nvPr/>
        </p:nvSpPr>
        <p:spPr>
          <a:xfrm>
            <a:off x="1316593" y="5187910"/>
            <a:ext cx="2438281" cy="304800"/>
          </a:xfrm>
          <a:prstGeom prst="rect">
            <a:avLst/>
          </a:prstGeom>
          <a:noFill/>
          <a:ln>
            <a:noFill/>
          </a:ln>
        </p:spPr>
        <p:txBody>
          <a:bodyPr spcFirstLastPara="1" wrap="square" lIns="0" tIns="0" rIns="0" bIns="0" anchor="t" anchorCtr="0">
            <a:noAutofit/>
          </a:bodyPr>
          <a:lstStyle/>
          <a:p>
            <a:pPr marL="0" marR="0" lvl="0" indent="0" algn="l" rtl="0">
              <a:lnSpc>
                <a:spcPct val="126000"/>
              </a:lnSpc>
              <a:spcBef>
                <a:spcPts val="0"/>
              </a:spcBef>
              <a:spcAft>
                <a:spcPts val="0"/>
              </a:spcAft>
              <a:buClr>
                <a:srgbClr val="DCD7E5"/>
              </a:buClr>
              <a:buSzPts val="1900"/>
              <a:buFont typeface="Montserrat" panose="00000500000000000000"/>
              <a:buNone/>
            </a:pPr>
            <a:r>
              <a:rPr lang="en-US" sz="190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AI Component</a:t>
            </a:r>
            <a:endParaRPr sz="1900" b="0" i="0" u="none" strike="noStrike" cap="none"/>
          </a:p>
        </p:txBody>
      </p:sp>
      <p:sp>
        <p:nvSpPr>
          <p:cNvPr id="97" name="Google Shape;97;p18"/>
          <p:cNvSpPr/>
          <p:nvPr/>
        </p:nvSpPr>
        <p:spPr>
          <a:xfrm>
            <a:off x="1316593" y="5609749"/>
            <a:ext cx="7144703" cy="623887"/>
          </a:xfrm>
          <a:prstGeom prst="rect">
            <a:avLst/>
          </a:prstGeom>
          <a:noFill/>
          <a:ln>
            <a:noFill/>
          </a:ln>
        </p:spPr>
        <p:txBody>
          <a:bodyPr spcFirstLastPara="1" wrap="square" lIns="0" tIns="0" rIns="0" bIns="0" anchor="t" anchorCtr="0">
            <a:noAutofit/>
          </a:bodyPr>
          <a:lstStyle/>
          <a:p>
            <a:pPr marL="0" marR="0" lvl="0" indent="0" algn="l" rtl="0">
              <a:lnSpc>
                <a:spcPct val="163000"/>
              </a:lnSpc>
              <a:spcBef>
                <a:spcPts val="0"/>
              </a:spcBef>
              <a:spcAft>
                <a:spcPts val="0"/>
              </a:spcAft>
              <a:buClr>
                <a:srgbClr val="DCD7E5"/>
              </a:buClr>
              <a:buSzPts val="1500"/>
              <a:buFont typeface="Heebo"/>
              <a:buNone/>
            </a:pPr>
            <a:r>
              <a:rPr lang="en-US" sz="1500" b="0" i="0" u="none" strike="noStrike" cap="none">
                <a:solidFill>
                  <a:srgbClr val="DCD7E5"/>
                </a:solidFill>
                <a:latin typeface="Heebo"/>
                <a:ea typeface="Heebo"/>
                <a:cs typeface="Heebo"/>
                <a:sym typeface="Heebo"/>
              </a:rPr>
              <a:t>Lightweight LLaMA model fine-tuned for medical knowledge and healthcare-specific responses</a:t>
            </a:r>
            <a:endParaRPr sz="1500" b="0" i="0" u="none" strike="noStrike" cap="none"/>
          </a:p>
        </p:txBody>
      </p:sp>
      <p:sp>
        <p:nvSpPr>
          <p:cNvPr id="98" name="Google Shape;98;p18"/>
          <p:cNvSpPr/>
          <p:nvPr/>
        </p:nvSpPr>
        <p:spPr>
          <a:xfrm>
            <a:off x="682704" y="6648093"/>
            <a:ext cx="438864" cy="438864"/>
          </a:xfrm>
          <a:prstGeom prst="roundRect">
            <a:avLst>
              <a:gd name="adj" fmla="val 18669"/>
            </a:avLst>
          </a:prstGeom>
          <a:solidFill>
            <a:srgbClr val="31136C"/>
          </a:solidFill>
          <a:ln w="9525" cap="flat" cmpd="sng">
            <a:solidFill>
              <a:srgbClr val="4A2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99" name="Google Shape;99;p18" descr="preencoded.png"/>
          <p:cNvPicPr preferRelativeResize="0"/>
          <p:nvPr/>
        </p:nvPicPr>
        <p:blipFill rotWithShape="1">
          <a:blip r:embed="rId5"/>
          <a:srcRect/>
          <a:stretch>
            <a:fillRect/>
          </a:stretch>
        </p:blipFill>
        <p:spPr>
          <a:xfrm>
            <a:off x="755868" y="6684705"/>
            <a:ext cx="292537" cy="365641"/>
          </a:xfrm>
          <a:prstGeom prst="rect">
            <a:avLst/>
          </a:prstGeom>
          <a:noFill/>
          <a:ln>
            <a:noFill/>
          </a:ln>
        </p:spPr>
      </p:pic>
      <p:sp>
        <p:nvSpPr>
          <p:cNvPr id="100" name="Google Shape;100;p18"/>
          <p:cNvSpPr/>
          <p:nvPr/>
        </p:nvSpPr>
        <p:spPr>
          <a:xfrm>
            <a:off x="1316355" y="6647815"/>
            <a:ext cx="6283325" cy="304800"/>
          </a:xfrm>
          <a:prstGeom prst="rect">
            <a:avLst/>
          </a:prstGeom>
          <a:noFill/>
          <a:ln>
            <a:noFill/>
          </a:ln>
        </p:spPr>
        <p:txBody>
          <a:bodyPr spcFirstLastPara="1" wrap="square" lIns="0" tIns="0" rIns="0" bIns="0" anchor="t" anchorCtr="0">
            <a:noAutofit/>
          </a:bodyPr>
          <a:lstStyle/>
          <a:p>
            <a:pPr marL="0" marR="0" lvl="0" indent="0" algn="l" rtl="0">
              <a:lnSpc>
                <a:spcPct val="126000"/>
              </a:lnSpc>
              <a:spcBef>
                <a:spcPts val="0"/>
              </a:spcBef>
              <a:spcAft>
                <a:spcPts val="0"/>
              </a:spcAft>
              <a:buClr>
                <a:srgbClr val="DCD7E5"/>
              </a:buClr>
              <a:buSzPts val="1900"/>
              <a:buFont typeface="Montserrat" panose="00000500000000000000"/>
              <a:buNone/>
            </a:pPr>
            <a:r>
              <a:rPr lang="en-US" sz="190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Security Considerations</a:t>
            </a:r>
            <a:endParaRPr sz="1900" b="0" i="0" u="none" strike="noStrike" cap="none"/>
          </a:p>
        </p:txBody>
      </p:sp>
      <p:sp>
        <p:nvSpPr>
          <p:cNvPr id="101" name="Google Shape;101;p18"/>
          <p:cNvSpPr/>
          <p:nvPr/>
        </p:nvSpPr>
        <p:spPr>
          <a:xfrm>
            <a:off x="1316593" y="7069931"/>
            <a:ext cx="7144703" cy="623887"/>
          </a:xfrm>
          <a:prstGeom prst="rect">
            <a:avLst/>
          </a:prstGeom>
          <a:noFill/>
          <a:ln>
            <a:noFill/>
          </a:ln>
        </p:spPr>
        <p:txBody>
          <a:bodyPr spcFirstLastPara="1" wrap="square" lIns="0" tIns="0" rIns="0" bIns="0" anchor="t" anchorCtr="0">
            <a:noAutofit/>
          </a:bodyPr>
          <a:lstStyle/>
          <a:p>
            <a:pPr marL="0" marR="0" lvl="0" indent="0" algn="l" rtl="0">
              <a:lnSpc>
                <a:spcPct val="163000"/>
              </a:lnSpc>
              <a:spcBef>
                <a:spcPts val="0"/>
              </a:spcBef>
              <a:spcAft>
                <a:spcPts val="0"/>
              </a:spcAft>
              <a:buClr>
                <a:srgbClr val="DCD7E5"/>
              </a:buClr>
              <a:buSzPts val="1500"/>
              <a:buFont typeface="Heebo"/>
              <a:buNone/>
            </a:pPr>
            <a:r>
              <a:rPr lang="en-US" sz="1500" b="0" i="0" u="none" strike="noStrike" cap="none">
                <a:solidFill>
                  <a:srgbClr val="DCD7E5"/>
                </a:solidFill>
                <a:latin typeface="Heebo"/>
                <a:ea typeface="Heebo"/>
                <a:cs typeface="Heebo"/>
                <a:sym typeface="Heebo"/>
              </a:rPr>
              <a:t>Protect patient data and ensure compliance with healthcare regulations throughout the system</a:t>
            </a:r>
            <a:endParaRPr sz="1500" b="0" i="0" u="none" strike="noStrike" cap="non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07" name="Google Shape;107;p19"/>
          <p:cNvSpPr/>
          <p:nvPr/>
        </p:nvSpPr>
        <p:spPr>
          <a:xfrm>
            <a:off x="643652" y="505658"/>
            <a:ext cx="5165288" cy="574715"/>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2F0F4"/>
              </a:buClr>
              <a:buSzPts val="3600"/>
              <a:buFont typeface="Montserrat" panose="00000500000000000000"/>
              <a:buNone/>
            </a:pPr>
            <a:r>
              <a:rPr lang="en-US" sz="3600" b="1" i="0" u="none" strike="noStrike" cap="none">
                <a:solidFill>
                  <a:srgbClr val="F2F0F4"/>
                </a:solidFill>
                <a:latin typeface="Montserrat" panose="00000500000000000000"/>
                <a:ea typeface="Montserrat" panose="00000500000000000000"/>
                <a:cs typeface="Montserrat" panose="00000500000000000000"/>
                <a:sym typeface="Montserrat" panose="00000500000000000000"/>
              </a:rPr>
              <a:t>Solution Architecture</a:t>
            </a:r>
            <a:endParaRPr sz="3600" b="0" i="0" u="none" strike="noStrike" cap="none"/>
          </a:p>
        </p:txBody>
      </p:sp>
      <p:pic>
        <p:nvPicPr>
          <p:cNvPr id="108" name="Google Shape;108;p19" descr="preencoded.png"/>
          <p:cNvPicPr preferRelativeResize="0"/>
          <p:nvPr/>
        </p:nvPicPr>
        <p:blipFill rotWithShape="1">
          <a:blip r:embed="rId1"/>
          <a:srcRect/>
          <a:stretch>
            <a:fillRect/>
          </a:stretch>
        </p:blipFill>
        <p:spPr>
          <a:xfrm>
            <a:off x="3318867" y="1448157"/>
            <a:ext cx="1320879" cy="1059537"/>
          </a:xfrm>
          <a:prstGeom prst="rect">
            <a:avLst/>
          </a:prstGeom>
          <a:noFill/>
          <a:ln>
            <a:noFill/>
          </a:ln>
        </p:spPr>
      </p:pic>
      <p:pic>
        <p:nvPicPr>
          <p:cNvPr id="109" name="Google Shape;109;p19" descr="preencoded.png"/>
          <p:cNvPicPr preferRelativeResize="0"/>
          <p:nvPr/>
        </p:nvPicPr>
        <p:blipFill rotWithShape="1">
          <a:blip r:embed="rId2"/>
          <a:srcRect/>
          <a:stretch>
            <a:fillRect/>
          </a:stretch>
        </p:blipFill>
        <p:spPr>
          <a:xfrm>
            <a:off x="3849886" y="1947624"/>
            <a:ext cx="258604" cy="323255"/>
          </a:xfrm>
          <a:prstGeom prst="rect">
            <a:avLst/>
          </a:prstGeom>
          <a:noFill/>
          <a:ln>
            <a:noFill/>
          </a:ln>
        </p:spPr>
      </p:pic>
      <p:sp>
        <p:nvSpPr>
          <p:cNvPr id="110" name="Google Shape;110;p19"/>
          <p:cNvSpPr/>
          <p:nvPr/>
        </p:nvSpPr>
        <p:spPr>
          <a:xfrm>
            <a:off x="4823579" y="1631990"/>
            <a:ext cx="1848922" cy="287298"/>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DCD7E5"/>
              </a:buClr>
              <a:buSzPts val="1800"/>
              <a:buFont typeface="Montserrat" panose="00000500000000000000"/>
              <a:buNone/>
            </a:pPr>
            <a:r>
              <a:rPr lang="en-US" sz="180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Frontend</a:t>
            </a:r>
            <a:endParaRPr sz="1800" b="0" i="0" u="none" strike="noStrike" cap="none"/>
          </a:p>
        </p:txBody>
      </p:sp>
      <p:sp>
        <p:nvSpPr>
          <p:cNvPr id="111" name="Google Shape;111;p19"/>
          <p:cNvSpPr/>
          <p:nvPr/>
        </p:nvSpPr>
        <p:spPr>
          <a:xfrm>
            <a:off x="4823579" y="2029539"/>
            <a:ext cx="1848922" cy="294323"/>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DCD7E5"/>
              </a:buClr>
              <a:buSzPts val="1400"/>
              <a:buFont typeface="Heebo"/>
              <a:buNone/>
            </a:pPr>
            <a:r>
              <a:rPr lang="en-US" sz="1400" b="0" i="0" u="none" strike="noStrike" cap="none">
                <a:solidFill>
                  <a:srgbClr val="DCD7E5"/>
                </a:solidFill>
                <a:latin typeface="Heebo"/>
                <a:ea typeface="Heebo"/>
                <a:cs typeface="Heebo"/>
                <a:sym typeface="Heebo"/>
              </a:rPr>
              <a:t>HTML, CSS, JavaScript</a:t>
            </a:r>
            <a:endParaRPr sz="1400" b="0" i="0" u="none" strike="noStrike" cap="none"/>
          </a:p>
        </p:txBody>
      </p:sp>
      <p:sp>
        <p:nvSpPr>
          <p:cNvPr id="112" name="Google Shape;112;p19"/>
          <p:cNvSpPr/>
          <p:nvPr/>
        </p:nvSpPr>
        <p:spPr>
          <a:xfrm>
            <a:off x="4685705" y="2521148"/>
            <a:ext cx="9255085" cy="11430"/>
          </a:xfrm>
          <a:prstGeom prst="roundRect">
            <a:avLst>
              <a:gd name="adj" fmla="val 675802"/>
            </a:avLst>
          </a:prstGeom>
          <a:solidFill>
            <a:srgbClr val="4A2C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113" name="Google Shape;113;p19" descr="preencoded.png"/>
          <p:cNvPicPr preferRelativeResize="0"/>
          <p:nvPr/>
        </p:nvPicPr>
        <p:blipFill rotWithShape="1">
          <a:blip r:embed="rId3"/>
          <a:srcRect/>
          <a:stretch>
            <a:fillRect/>
          </a:stretch>
        </p:blipFill>
        <p:spPr>
          <a:xfrm>
            <a:off x="2658428" y="2553652"/>
            <a:ext cx="2641878" cy="1059537"/>
          </a:xfrm>
          <a:prstGeom prst="rect">
            <a:avLst/>
          </a:prstGeom>
          <a:noFill/>
          <a:ln>
            <a:noFill/>
          </a:ln>
        </p:spPr>
      </p:pic>
      <p:pic>
        <p:nvPicPr>
          <p:cNvPr id="114" name="Google Shape;114;p19" descr="preencoded.png"/>
          <p:cNvPicPr preferRelativeResize="0"/>
          <p:nvPr/>
        </p:nvPicPr>
        <p:blipFill rotWithShape="1">
          <a:blip r:embed="rId4"/>
          <a:srcRect/>
          <a:stretch>
            <a:fillRect/>
          </a:stretch>
        </p:blipFill>
        <p:spPr>
          <a:xfrm>
            <a:off x="3850005" y="2921794"/>
            <a:ext cx="258604" cy="323255"/>
          </a:xfrm>
          <a:prstGeom prst="rect">
            <a:avLst/>
          </a:prstGeom>
          <a:noFill/>
          <a:ln>
            <a:noFill/>
          </a:ln>
        </p:spPr>
      </p:pic>
      <p:sp>
        <p:nvSpPr>
          <p:cNvPr id="115" name="Google Shape;115;p19"/>
          <p:cNvSpPr/>
          <p:nvPr/>
        </p:nvSpPr>
        <p:spPr>
          <a:xfrm>
            <a:off x="5484138" y="2737485"/>
            <a:ext cx="1243013" cy="287298"/>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DCD7E5"/>
              </a:buClr>
              <a:buSzPts val="1800"/>
              <a:buFont typeface="Montserrat" panose="00000500000000000000"/>
              <a:buNone/>
            </a:pPr>
            <a:r>
              <a:rPr lang="en-US" sz="180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Backend</a:t>
            </a:r>
            <a:endParaRPr sz="1800" b="0" i="0" u="none" strike="noStrike" cap="none"/>
          </a:p>
        </p:txBody>
      </p:sp>
      <p:sp>
        <p:nvSpPr>
          <p:cNvPr id="116" name="Google Shape;116;p19"/>
          <p:cNvSpPr/>
          <p:nvPr/>
        </p:nvSpPr>
        <p:spPr>
          <a:xfrm>
            <a:off x="5484138" y="3135035"/>
            <a:ext cx="1243013" cy="294323"/>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DCD7E5"/>
              </a:buClr>
              <a:buSzPts val="1400"/>
              <a:buFont typeface="Heebo"/>
              <a:buNone/>
            </a:pPr>
            <a:r>
              <a:rPr lang="en-US" sz="1400" b="0" i="0" u="none" strike="noStrike" cap="none">
                <a:solidFill>
                  <a:srgbClr val="DCD7E5"/>
                </a:solidFill>
                <a:latin typeface="Heebo"/>
                <a:ea typeface="Heebo"/>
                <a:cs typeface="Heebo"/>
                <a:sym typeface="Heebo"/>
              </a:rPr>
              <a:t>Python FastAPI</a:t>
            </a:r>
            <a:endParaRPr sz="1400" b="0" i="0" u="none" strike="noStrike" cap="none"/>
          </a:p>
        </p:txBody>
      </p:sp>
      <p:sp>
        <p:nvSpPr>
          <p:cNvPr id="117" name="Google Shape;117;p19"/>
          <p:cNvSpPr/>
          <p:nvPr/>
        </p:nvSpPr>
        <p:spPr>
          <a:xfrm>
            <a:off x="5346263" y="3626644"/>
            <a:ext cx="8594527" cy="11430"/>
          </a:xfrm>
          <a:prstGeom prst="roundRect">
            <a:avLst>
              <a:gd name="adj" fmla="val 675802"/>
            </a:avLst>
          </a:prstGeom>
          <a:solidFill>
            <a:srgbClr val="4A2C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118" name="Google Shape;118;p19" descr="preencoded.png"/>
          <p:cNvPicPr preferRelativeResize="0"/>
          <p:nvPr/>
        </p:nvPicPr>
        <p:blipFill rotWithShape="1">
          <a:blip r:embed="rId5"/>
          <a:srcRect/>
          <a:stretch>
            <a:fillRect/>
          </a:stretch>
        </p:blipFill>
        <p:spPr>
          <a:xfrm>
            <a:off x="1997869" y="3659148"/>
            <a:ext cx="3962876" cy="1059537"/>
          </a:xfrm>
          <a:prstGeom prst="rect">
            <a:avLst/>
          </a:prstGeom>
          <a:noFill/>
          <a:ln>
            <a:noFill/>
          </a:ln>
        </p:spPr>
      </p:pic>
      <p:pic>
        <p:nvPicPr>
          <p:cNvPr id="119" name="Google Shape;119;p19" descr="preencoded.png"/>
          <p:cNvPicPr preferRelativeResize="0"/>
          <p:nvPr/>
        </p:nvPicPr>
        <p:blipFill rotWithShape="1">
          <a:blip r:embed="rId6"/>
          <a:srcRect/>
          <a:stretch>
            <a:fillRect/>
          </a:stretch>
        </p:blipFill>
        <p:spPr>
          <a:xfrm>
            <a:off x="3850005" y="4027289"/>
            <a:ext cx="258604" cy="323255"/>
          </a:xfrm>
          <a:prstGeom prst="rect">
            <a:avLst/>
          </a:prstGeom>
          <a:noFill/>
          <a:ln>
            <a:noFill/>
          </a:ln>
        </p:spPr>
      </p:pic>
      <p:sp>
        <p:nvSpPr>
          <p:cNvPr id="120" name="Google Shape;120;p19"/>
          <p:cNvSpPr/>
          <p:nvPr/>
        </p:nvSpPr>
        <p:spPr>
          <a:xfrm>
            <a:off x="6144578" y="3842980"/>
            <a:ext cx="2298859" cy="287298"/>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DCD7E5"/>
              </a:buClr>
              <a:buSzPts val="1800"/>
              <a:buFont typeface="Montserrat" panose="00000500000000000000"/>
              <a:buNone/>
            </a:pPr>
            <a:r>
              <a:rPr lang="en-US" sz="180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AI Engine</a:t>
            </a:r>
            <a:endParaRPr sz="1800" b="0" i="0" u="none" strike="noStrike" cap="none"/>
          </a:p>
        </p:txBody>
      </p:sp>
      <p:sp>
        <p:nvSpPr>
          <p:cNvPr id="121" name="Google Shape;121;p19"/>
          <p:cNvSpPr/>
          <p:nvPr/>
        </p:nvSpPr>
        <p:spPr>
          <a:xfrm>
            <a:off x="6144578" y="4240530"/>
            <a:ext cx="2610207" cy="294323"/>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DCD7E5"/>
              </a:buClr>
              <a:buSzPts val="1400"/>
              <a:buFont typeface="Heebo"/>
              <a:buNone/>
            </a:pPr>
            <a:r>
              <a:rPr lang="en-US" sz="1400" b="0" i="0" u="none" strike="noStrike" cap="none">
                <a:solidFill>
                  <a:srgbClr val="DCD7E5"/>
                </a:solidFill>
                <a:latin typeface="Heebo"/>
                <a:ea typeface="Heebo"/>
                <a:cs typeface="Heebo"/>
                <a:sym typeface="Heebo"/>
              </a:rPr>
              <a:t>LLaMA 3.2–1B fine-tuned model</a:t>
            </a:r>
            <a:endParaRPr sz="1400" b="0" i="0" u="none" strike="noStrike" cap="none"/>
          </a:p>
        </p:txBody>
      </p:sp>
      <p:sp>
        <p:nvSpPr>
          <p:cNvPr id="122" name="Google Shape;122;p19"/>
          <p:cNvSpPr/>
          <p:nvPr/>
        </p:nvSpPr>
        <p:spPr>
          <a:xfrm>
            <a:off x="6006703" y="4732139"/>
            <a:ext cx="7934087" cy="11430"/>
          </a:xfrm>
          <a:prstGeom prst="roundRect">
            <a:avLst>
              <a:gd name="adj" fmla="val 675802"/>
            </a:avLst>
          </a:prstGeom>
          <a:solidFill>
            <a:srgbClr val="4A2C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123" name="Google Shape;123;p19" descr="preencoded.png"/>
          <p:cNvPicPr preferRelativeResize="0"/>
          <p:nvPr/>
        </p:nvPicPr>
        <p:blipFill rotWithShape="1">
          <a:blip r:embed="rId7"/>
          <a:srcRect/>
          <a:stretch>
            <a:fillRect/>
          </a:stretch>
        </p:blipFill>
        <p:spPr>
          <a:xfrm>
            <a:off x="1337429" y="4764643"/>
            <a:ext cx="5283756" cy="1059537"/>
          </a:xfrm>
          <a:prstGeom prst="rect">
            <a:avLst/>
          </a:prstGeom>
          <a:noFill/>
          <a:ln>
            <a:noFill/>
          </a:ln>
        </p:spPr>
      </p:pic>
      <p:pic>
        <p:nvPicPr>
          <p:cNvPr id="124" name="Google Shape;124;p19" descr="preencoded.png"/>
          <p:cNvPicPr preferRelativeResize="0"/>
          <p:nvPr/>
        </p:nvPicPr>
        <p:blipFill rotWithShape="1">
          <a:blip r:embed="rId8"/>
          <a:srcRect/>
          <a:stretch>
            <a:fillRect/>
          </a:stretch>
        </p:blipFill>
        <p:spPr>
          <a:xfrm>
            <a:off x="3850005" y="5132784"/>
            <a:ext cx="258604" cy="323255"/>
          </a:xfrm>
          <a:prstGeom prst="rect">
            <a:avLst/>
          </a:prstGeom>
          <a:noFill/>
          <a:ln>
            <a:noFill/>
          </a:ln>
        </p:spPr>
      </p:pic>
      <p:sp>
        <p:nvSpPr>
          <p:cNvPr id="125" name="Google Shape;125;p19"/>
          <p:cNvSpPr/>
          <p:nvPr/>
        </p:nvSpPr>
        <p:spPr>
          <a:xfrm>
            <a:off x="6805017" y="4948476"/>
            <a:ext cx="2298859" cy="287298"/>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DCD7E5"/>
              </a:buClr>
              <a:buSzPts val="1800"/>
              <a:buFont typeface="Montserrat" panose="00000500000000000000"/>
              <a:buNone/>
            </a:pPr>
            <a:r>
              <a:rPr lang="en-US" sz="180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Infrastructure</a:t>
            </a:r>
            <a:endParaRPr sz="1800" b="0" i="0" u="none" strike="noStrike" cap="none"/>
          </a:p>
        </p:txBody>
      </p:sp>
      <p:sp>
        <p:nvSpPr>
          <p:cNvPr id="126" name="Google Shape;126;p19"/>
          <p:cNvSpPr/>
          <p:nvPr/>
        </p:nvSpPr>
        <p:spPr>
          <a:xfrm>
            <a:off x="6805017" y="5346025"/>
            <a:ext cx="2958822" cy="294323"/>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DCD7E5"/>
              </a:buClr>
              <a:buSzPts val="1400"/>
              <a:buFont typeface="Heebo"/>
              <a:buNone/>
            </a:pPr>
            <a:r>
              <a:rPr lang="en-US" sz="1400" b="0" i="0" u="none" strike="noStrike" cap="none">
                <a:solidFill>
                  <a:srgbClr val="DCD7E5"/>
                </a:solidFill>
                <a:latin typeface="Heebo"/>
                <a:ea typeface="Heebo"/>
                <a:cs typeface="Heebo"/>
                <a:sym typeface="Heebo"/>
              </a:rPr>
              <a:t>Azure Kubernetes Service, Terraform</a:t>
            </a:r>
            <a:endParaRPr sz="1400" b="0" i="0" u="none" strike="noStrike" cap="none"/>
          </a:p>
        </p:txBody>
      </p:sp>
      <p:sp>
        <p:nvSpPr>
          <p:cNvPr id="127" name="Google Shape;127;p19"/>
          <p:cNvSpPr/>
          <p:nvPr/>
        </p:nvSpPr>
        <p:spPr>
          <a:xfrm>
            <a:off x="6667143" y="5837634"/>
            <a:ext cx="7273647" cy="11430"/>
          </a:xfrm>
          <a:prstGeom prst="roundRect">
            <a:avLst>
              <a:gd name="adj" fmla="val 675802"/>
            </a:avLst>
          </a:prstGeom>
          <a:solidFill>
            <a:srgbClr val="4A2C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128" name="Google Shape;128;p19" descr="preencoded.png"/>
          <p:cNvPicPr preferRelativeResize="0"/>
          <p:nvPr/>
        </p:nvPicPr>
        <p:blipFill rotWithShape="1">
          <a:blip r:embed="rId9"/>
          <a:srcRect/>
          <a:stretch>
            <a:fillRect/>
          </a:stretch>
        </p:blipFill>
        <p:spPr>
          <a:xfrm>
            <a:off x="676989" y="5870138"/>
            <a:ext cx="6604754" cy="1059537"/>
          </a:xfrm>
          <a:prstGeom prst="rect">
            <a:avLst/>
          </a:prstGeom>
          <a:noFill/>
          <a:ln>
            <a:noFill/>
          </a:ln>
        </p:spPr>
      </p:pic>
      <p:pic>
        <p:nvPicPr>
          <p:cNvPr id="129" name="Google Shape;129;p19" descr="preencoded.png"/>
          <p:cNvPicPr preferRelativeResize="0"/>
          <p:nvPr/>
        </p:nvPicPr>
        <p:blipFill rotWithShape="1">
          <a:blip r:embed="rId10"/>
          <a:srcRect/>
          <a:stretch>
            <a:fillRect/>
          </a:stretch>
        </p:blipFill>
        <p:spPr>
          <a:xfrm>
            <a:off x="3850005" y="6238280"/>
            <a:ext cx="258604" cy="323255"/>
          </a:xfrm>
          <a:prstGeom prst="rect">
            <a:avLst/>
          </a:prstGeom>
          <a:noFill/>
          <a:ln>
            <a:noFill/>
          </a:ln>
        </p:spPr>
      </p:pic>
      <p:sp>
        <p:nvSpPr>
          <p:cNvPr id="130" name="Google Shape;130;p19"/>
          <p:cNvSpPr/>
          <p:nvPr/>
        </p:nvSpPr>
        <p:spPr>
          <a:xfrm>
            <a:off x="7465576" y="6053971"/>
            <a:ext cx="2298859" cy="287298"/>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DCD7E5"/>
              </a:buClr>
              <a:buSzPts val="1800"/>
              <a:buFont typeface="Montserrat" panose="00000500000000000000"/>
              <a:buNone/>
            </a:pPr>
            <a:r>
              <a:rPr lang="en-US" sz="180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Security</a:t>
            </a:r>
            <a:endParaRPr sz="1800" b="0" i="0" u="none" strike="noStrike" cap="none"/>
          </a:p>
        </p:txBody>
      </p:sp>
      <p:sp>
        <p:nvSpPr>
          <p:cNvPr id="131" name="Google Shape;131;p19"/>
          <p:cNvSpPr/>
          <p:nvPr/>
        </p:nvSpPr>
        <p:spPr>
          <a:xfrm>
            <a:off x="7465576" y="6451521"/>
            <a:ext cx="3005018" cy="294323"/>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DCD7E5"/>
              </a:buClr>
              <a:buSzPts val="1400"/>
              <a:buFont typeface="Heebo"/>
              <a:buNone/>
            </a:pPr>
            <a:r>
              <a:rPr lang="en-US" sz="1400" b="0" i="0" u="none" strike="noStrike" cap="none">
                <a:solidFill>
                  <a:srgbClr val="DCD7E5"/>
                </a:solidFill>
                <a:latin typeface="Heebo"/>
                <a:ea typeface="Heebo"/>
                <a:cs typeface="Heebo"/>
                <a:sym typeface="Heebo"/>
              </a:rPr>
              <a:t>Microsoft Defender, Entra ID, Sentinel</a:t>
            </a:r>
            <a:endParaRPr sz="1400" b="0" i="0" u="none" strike="noStrike" cap="none"/>
          </a:p>
        </p:txBody>
      </p:sp>
      <p:sp>
        <p:nvSpPr>
          <p:cNvPr id="132" name="Google Shape;132;p19"/>
          <p:cNvSpPr/>
          <p:nvPr/>
        </p:nvSpPr>
        <p:spPr>
          <a:xfrm>
            <a:off x="643652" y="7136487"/>
            <a:ext cx="13343096" cy="588645"/>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DCD7E5"/>
              </a:buClr>
              <a:buSzPts val="1400"/>
              <a:buFont typeface="Heebo"/>
              <a:buNone/>
            </a:pPr>
            <a:r>
              <a:rPr lang="en-US" sz="1400" b="0" i="0" u="none" strike="noStrike" cap="none">
                <a:solidFill>
                  <a:srgbClr val="DCD7E5"/>
                </a:solidFill>
                <a:latin typeface="Heebo"/>
                <a:ea typeface="Heebo"/>
                <a:cs typeface="Heebo"/>
                <a:sym typeface="Heebo"/>
              </a:rPr>
              <a:t>Our solution follows a modern cloud-native architecture pattern with clearly separated concerns. Each layer is designed to be independently scalable and maintainable, following microservices principles to ensure the system can evolve over time.</a:t>
            </a:r>
            <a:endParaRPr sz="1400" b="0" i="0" u="none" strike="noStrike" cap="none"/>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37" name="Shape 137"/>
        <p:cNvGrpSpPr/>
        <p:nvPr/>
      </p:nvGrpSpPr>
      <p:grpSpPr>
        <a:xfrm>
          <a:off x="0" y="0"/>
          <a:ext cx="0" cy="0"/>
          <a:chOff x="0" y="0"/>
          <a:chExt cx="0" cy="0"/>
        </a:xfrm>
      </p:grpSpPr>
      <p:sp>
        <p:nvSpPr>
          <p:cNvPr id="138" name="Google Shape;138;p20"/>
          <p:cNvSpPr/>
          <p:nvPr/>
        </p:nvSpPr>
        <p:spPr>
          <a:xfrm>
            <a:off x="785098" y="616863"/>
            <a:ext cx="7511177" cy="700921"/>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2F0F4"/>
              </a:buClr>
              <a:buSzPts val="4400"/>
              <a:buFont typeface="Montserrat" panose="00000500000000000000"/>
              <a:buNone/>
            </a:pPr>
            <a:r>
              <a:rPr lang="en-US" sz="4400" b="1" i="0" u="none" strike="noStrike" cap="none">
                <a:solidFill>
                  <a:srgbClr val="F2F0F4"/>
                </a:solidFill>
                <a:latin typeface="Montserrat" panose="00000500000000000000"/>
                <a:ea typeface="Montserrat" panose="00000500000000000000"/>
                <a:cs typeface="Montserrat" panose="00000500000000000000"/>
                <a:sym typeface="Montserrat" panose="00000500000000000000"/>
              </a:rPr>
              <a:t>Containerization Strategy</a:t>
            </a:r>
            <a:endParaRPr sz="4400" b="0" i="0" u="none" strike="noStrike" cap="none"/>
          </a:p>
        </p:txBody>
      </p:sp>
      <p:sp>
        <p:nvSpPr>
          <p:cNvPr id="139" name="Google Shape;139;p20"/>
          <p:cNvSpPr/>
          <p:nvPr/>
        </p:nvSpPr>
        <p:spPr>
          <a:xfrm>
            <a:off x="1889046" y="2223730"/>
            <a:ext cx="2804160" cy="350401"/>
          </a:xfrm>
          <a:prstGeom prst="rect">
            <a:avLst/>
          </a:prstGeom>
          <a:noFill/>
          <a:ln>
            <a:noFill/>
          </a:ln>
        </p:spPr>
        <p:txBody>
          <a:bodyPr spcFirstLastPara="1" wrap="square" lIns="0" tIns="0" rIns="0" bIns="0" anchor="t" anchorCtr="0">
            <a:noAutofit/>
          </a:bodyPr>
          <a:lstStyle/>
          <a:p>
            <a:pPr marL="0" marR="0" lvl="0" indent="0" algn="r" rtl="0">
              <a:lnSpc>
                <a:spcPct val="125000"/>
              </a:lnSpc>
              <a:spcBef>
                <a:spcPts val="0"/>
              </a:spcBef>
              <a:spcAft>
                <a:spcPts val="0"/>
              </a:spcAft>
              <a:buClr>
                <a:srgbClr val="DCD7E5"/>
              </a:buClr>
              <a:buSzPts val="2200"/>
              <a:buFont typeface="Montserrat" panose="00000500000000000000"/>
              <a:buNone/>
            </a:pPr>
            <a:r>
              <a:rPr lang="en-US" sz="220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Application Code</a:t>
            </a:r>
            <a:endParaRPr sz="2200" b="0" i="0" u="none" strike="noStrike" cap="none"/>
          </a:p>
        </p:txBody>
      </p:sp>
      <p:sp>
        <p:nvSpPr>
          <p:cNvPr id="140" name="Google Shape;140;p20"/>
          <p:cNvSpPr/>
          <p:nvPr/>
        </p:nvSpPr>
        <p:spPr>
          <a:xfrm>
            <a:off x="785098" y="2708672"/>
            <a:ext cx="3908107" cy="717709"/>
          </a:xfrm>
          <a:prstGeom prst="rect">
            <a:avLst/>
          </a:prstGeom>
          <a:noFill/>
          <a:ln>
            <a:noFill/>
          </a:ln>
        </p:spPr>
        <p:txBody>
          <a:bodyPr spcFirstLastPara="1" wrap="square" lIns="0" tIns="0" rIns="0" bIns="0" anchor="t" anchorCtr="0">
            <a:noAutofit/>
          </a:bodyPr>
          <a:lstStyle/>
          <a:p>
            <a:pPr marL="0" marR="0" lvl="0" indent="0" algn="r" rtl="0">
              <a:lnSpc>
                <a:spcPct val="160000"/>
              </a:lnSpc>
              <a:spcBef>
                <a:spcPts val="0"/>
              </a:spcBef>
              <a:spcAft>
                <a:spcPts val="0"/>
              </a:spcAft>
              <a:buClr>
                <a:srgbClr val="DCD7E5"/>
              </a:buClr>
              <a:buSzPts val="1750"/>
              <a:buFont typeface="Heebo"/>
              <a:buNone/>
            </a:pPr>
            <a:r>
              <a:rPr lang="en-US" sz="1750" b="0" i="0" u="none" strike="noStrike" cap="none">
                <a:solidFill>
                  <a:srgbClr val="DCD7E5"/>
                </a:solidFill>
                <a:latin typeface="Heebo"/>
                <a:ea typeface="Heebo"/>
                <a:cs typeface="Heebo"/>
                <a:sym typeface="Heebo"/>
              </a:rPr>
              <a:t>Python FastAPI backend and LLaMA model implementation</a:t>
            </a:r>
            <a:endParaRPr sz="1750" b="0" i="0" u="none" strike="noStrike" cap="none"/>
          </a:p>
        </p:txBody>
      </p:sp>
      <p:pic>
        <p:nvPicPr>
          <p:cNvPr id="141" name="Google Shape;141;p20" descr="preencoded.png"/>
          <p:cNvPicPr preferRelativeResize="0"/>
          <p:nvPr/>
        </p:nvPicPr>
        <p:blipFill rotWithShape="1">
          <a:blip r:embed="rId1"/>
          <a:srcRect/>
          <a:stretch>
            <a:fillRect/>
          </a:stretch>
        </p:blipFill>
        <p:spPr>
          <a:xfrm>
            <a:off x="5029676" y="1766411"/>
            <a:ext cx="4571048" cy="4571048"/>
          </a:xfrm>
          <a:prstGeom prst="rect">
            <a:avLst/>
          </a:prstGeom>
          <a:noFill/>
          <a:ln>
            <a:noFill/>
          </a:ln>
        </p:spPr>
      </p:pic>
      <p:pic>
        <p:nvPicPr>
          <p:cNvPr id="142" name="Google Shape;142;p20" descr="preencoded.png"/>
          <p:cNvPicPr preferRelativeResize="0"/>
          <p:nvPr/>
        </p:nvPicPr>
        <p:blipFill rotWithShape="1">
          <a:blip r:embed="rId2"/>
          <a:srcRect/>
          <a:stretch>
            <a:fillRect/>
          </a:stretch>
        </p:blipFill>
        <p:spPr>
          <a:xfrm>
            <a:off x="6227326" y="2533174"/>
            <a:ext cx="335637" cy="419576"/>
          </a:xfrm>
          <a:prstGeom prst="rect">
            <a:avLst/>
          </a:prstGeom>
          <a:noFill/>
          <a:ln>
            <a:noFill/>
          </a:ln>
        </p:spPr>
      </p:pic>
      <p:sp>
        <p:nvSpPr>
          <p:cNvPr id="143" name="Google Shape;143;p20"/>
          <p:cNvSpPr/>
          <p:nvPr/>
        </p:nvSpPr>
        <p:spPr>
          <a:xfrm>
            <a:off x="9937194" y="2223730"/>
            <a:ext cx="2804160" cy="350401"/>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DCD7E5"/>
              </a:buClr>
              <a:buSzPts val="2200"/>
              <a:buFont typeface="Montserrat" panose="00000500000000000000"/>
              <a:buNone/>
            </a:pPr>
            <a:r>
              <a:rPr lang="en-US" sz="220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Docker Images</a:t>
            </a:r>
            <a:endParaRPr sz="2200" b="0" i="0" u="none" strike="noStrike" cap="none"/>
          </a:p>
        </p:txBody>
      </p:sp>
      <p:sp>
        <p:nvSpPr>
          <p:cNvPr id="144" name="Google Shape;144;p20"/>
          <p:cNvSpPr/>
          <p:nvPr/>
        </p:nvSpPr>
        <p:spPr>
          <a:xfrm>
            <a:off x="9937194" y="2708672"/>
            <a:ext cx="3908107" cy="717709"/>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DCD7E5"/>
              </a:buClr>
              <a:buSzPts val="1750"/>
              <a:buFont typeface="Heebo"/>
              <a:buNone/>
            </a:pPr>
            <a:r>
              <a:rPr lang="en-US" sz="1750" b="0" i="0" u="none" strike="noStrike" cap="none">
                <a:solidFill>
                  <a:srgbClr val="DCD7E5"/>
                </a:solidFill>
                <a:latin typeface="Heebo"/>
                <a:ea typeface="Heebo"/>
                <a:cs typeface="Heebo"/>
                <a:sym typeface="Heebo"/>
              </a:rPr>
              <a:t>Containerized applications with optimized dependencies</a:t>
            </a:r>
            <a:endParaRPr sz="1750" b="0" i="0" u="none" strike="noStrike" cap="none"/>
          </a:p>
        </p:txBody>
      </p:sp>
      <p:pic>
        <p:nvPicPr>
          <p:cNvPr id="145" name="Google Shape;145;p20" descr="preencoded.png"/>
          <p:cNvPicPr preferRelativeResize="0"/>
          <p:nvPr/>
        </p:nvPicPr>
        <p:blipFill rotWithShape="1">
          <a:blip r:embed="rId3"/>
          <a:srcRect/>
          <a:stretch>
            <a:fillRect/>
          </a:stretch>
        </p:blipFill>
        <p:spPr>
          <a:xfrm>
            <a:off x="5029676" y="1766411"/>
            <a:ext cx="4571048" cy="4571048"/>
          </a:xfrm>
          <a:prstGeom prst="rect">
            <a:avLst/>
          </a:prstGeom>
          <a:noFill/>
          <a:ln>
            <a:noFill/>
          </a:ln>
        </p:spPr>
      </p:pic>
      <p:pic>
        <p:nvPicPr>
          <p:cNvPr id="146" name="Google Shape;146;p20" descr="preencoded.png"/>
          <p:cNvPicPr preferRelativeResize="0"/>
          <p:nvPr/>
        </p:nvPicPr>
        <p:blipFill rotWithShape="1">
          <a:blip r:embed="rId4"/>
          <a:srcRect/>
          <a:stretch>
            <a:fillRect/>
          </a:stretch>
        </p:blipFill>
        <p:spPr>
          <a:xfrm>
            <a:off x="8456176" y="2922151"/>
            <a:ext cx="335637" cy="419576"/>
          </a:xfrm>
          <a:prstGeom prst="rect">
            <a:avLst/>
          </a:prstGeom>
          <a:noFill/>
          <a:ln>
            <a:noFill/>
          </a:ln>
        </p:spPr>
      </p:pic>
      <p:sp>
        <p:nvSpPr>
          <p:cNvPr id="147" name="Google Shape;147;p20"/>
          <p:cNvSpPr/>
          <p:nvPr/>
        </p:nvSpPr>
        <p:spPr>
          <a:xfrm>
            <a:off x="9937194" y="4677489"/>
            <a:ext cx="2804160" cy="350401"/>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DCD7E5"/>
              </a:buClr>
              <a:buSzPts val="2200"/>
              <a:buFont typeface="Montserrat" panose="00000500000000000000"/>
              <a:buNone/>
            </a:pPr>
            <a:r>
              <a:rPr lang="en-US" sz="220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Container Registry</a:t>
            </a:r>
            <a:endParaRPr sz="2200" b="0" i="0" u="none" strike="noStrike" cap="none"/>
          </a:p>
        </p:txBody>
      </p:sp>
      <p:sp>
        <p:nvSpPr>
          <p:cNvPr id="148" name="Google Shape;148;p20"/>
          <p:cNvSpPr/>
          <p:nvPr/>
        </p:nvSpPr>
        <p:spPr>
          <a:xfrm>
            <a:off x="9937194" y="5162431"/>
            <a:ext cx="3908107" cy="717709"/>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DCD7E5"/>
              </a:buClr>
              <a:buSzPts val="1750"/>
              <a:buFont typeface="Heebo"/>
              <a:buNone/>
            </a:pPr>
            <a:r>
              <a:rPr lang="en-US" sz="1750" b="0" i="0" u="none" strike="noStrike" cap="none">
                <a:solidFill>
                  <a:srgbClr val="DCD7E5"/>
                </a:solidFill>
                <a:latin typeface="Heebo"/>
                <a:ea typeface="Heebo"/>
                <a:cs typeface="Heebo"/>
                <a:sym typeface="Heebo"/>
              </a:rPr>
              <a:t>Azure Container Registry for image storage</a:t>
            </a:r>
            <a:endParaRPr sz="1750" b="0" i="0" u="none" strike="noStrike" cap="none"/>
          </a:p>
        </p:txBody>
      </p:sp>
      <p:pic>
        <p:nvPicPr>
          <p:cNvPr id="149" name="Google Shape;149;p20" descr="preencoded.png"/>
          <p:cNvPicPr preferRelativeResize="0"/>
          <p:nvPr/>
        </p:nvPicPr>
        <p:blipFill rotWithShape="1">
          <a:blip r:embed="rId5"/>
          <a:srcRect/>
          <a:stretch>
            <a:fillRect/>
          </a:stretch>
        </p:blipFill>
        <p:spPr>
          <a:xfrm>
            <a:off x="5029676" y="1766411"/>
            <a:ext cx="4571048" cy="4571048"/>
          </a:xfrm>
          <a:prstGeom prst="rect">
            <a:avLst/>
          </a:prstGeom>
          <a:noFill/>
          <a:ln>
            <a:noFill/>
          </a:ln>
        </p:spPr>
      </p:pic>
      <p:pic>
        <p:nvPicPr>
          <p:cNvPr id="150" name="Google Shape;150;p20" descr="preencoded.png"/>
          <p:cNvPicPr preferRelativeResize="0"/>
          <p:nvPr/>
        </p:nvPicPr>
        <p:blipFill rotWithShape="1">
          <a:blip r:embed="rId6"/>
          <a:srcRect/>
          <a:stretch>
            <a:fillRect/>
          </a:stretch>
        </p:blipFill>
        <p:spPr>
          <a:xfrm>
            <a:off x="8067199" y="5151001"/>
            <a:ext cx="335637" cy="419576"/>
          </a:xfrm>
          <a:prstGeom prst="rect">
            <a:avLst/>
          </a:prstGeom>
          <a:noFill/>
          <a:ln>
            <a:noFill/>
          </a:ln>
        </p:spPr>
      </p:pic>
      <p:sp>
        <p:nvSpPr>
          <p:cNvPr id="151" name="Google Shape;151;p20"/>
          <p:cNvSpPr/>
          <p:nvPr/>
        </p:nvSpPr>
        <p:spPr>
          <a:xfrm>
            <a:off x="119380" y="4677410"/>
            <a:ext cx="4573905" cy="350520"/>
          </a:xfrm>
          <a:prstGeom prst="rect">
            <a:avLst/>
          </a:prstGeom>
          <a:noFill/>
          <a:ln>
            <a:noFill/>
          </a:ln>
        </p:spPr>
        <p:txBody>
          <a:bodyPr spcFirstLastPara="1" wrap="square" lIns="0" tIns="0" rIns="0" bIns="0" anchor="t" anchorCtr="0">
            <a:noAutofit/>
          </a:bodyPr>
          <a:lstStyle/>
          <a:p>
            <a:pPr marL="0" marR="0" lvl="0" indent="0" algn="r" rtl="0">
              <a:lnSpc>
                <a:spcPct val="125000"/>
              </a:lnSpc>
              <a:spcBef>
                <a:spcPts val="0"/>
              </a:spcBef>
              <a:spcAft>
                <a:spcPts val="0"/>
              </a:spcAft>
              <a:buClr>
                <a:srgbClr val="DCD7E5"/>
              </a:buClr>
              <a:buSzPts val="2200"/>
              <a:buFont typeface="Montserrat" panose="00000500000000000000"/>
              <a:buNone/>
            </a:pPr>
            <a:r>
              <a:rPr lang="en-US" sz="220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Kubernetes Deployment</a:t>
            </a:r>
            <a:endParaRPr sz="2200" b="0" i="0" u="none" strike="noStrike" cap="none"/>
          </a:p>
        </p:txBody>
      </p:sp>
      <p:sp>
        <p:nvSpPr>
          <p:cNvPr id="152" name="Google Shape;152;p20"/>
          <p:cNvSpPr/>
          <p:nvPr/>
        </p:nvSpPr>
        <p:spPr>
          <a:xfrm>
            <a:off x="785098" y="5162431"/>
            <a:ext cx="3908107" cy="717709"/>
          </a:xfrm>
          <a:prstGeom prst="rect">
            <a:avLst/>
          </a:prstGeom>
          <a:noFill/>
          <a:ln>
            <a:noFill/>
          </a:ln>
        </p:spPr>
        <p:txBody>
          <a:bodyPr spcFirstLastPara="1" wrap="square" lIns="0" tIns="0" rIns="0" bIns="0" anchor="t" anchorCtr="0">
            <a:noAutofit/>
          </a:bodyPr>
          <a:lstStyle/>
          <a:p>
            <a:pPr marL="0" marR="0" lvl="0" indent="0" algn="r" rtl="0">
              <a:lnSpc>
                <a:spcPct val="160000"/>
              </a:lnSpc>
              <a:spcBef>
                <a:spcPts val="0"/>
              </a:spcBef>
              <a:spcAft>
                <a:spcPts val="0"/>
              </a:spcAft>
              <a:buClr>
                <a:srgbClr val="DCD7E5"/>
              </a:buClr>
              <a:buSzPts val="1750"/>
              <a:buFont typeface="Heebo"/>
              <a:buNone/>
            </a:pPr>
            <a:r>
              <a:rPr lang="en-US" sz="1750" b="0" i="0" u="none" strike="noStrike" cap="none">
                <a:solidFill>
                  <a:srgbClr val="DCD7E5"/>
                </a:solidFill>
                <a:latin typeface="Heebo"/>
                <a:ea typeface="Heebo"/>
                <a:cs typeface="Heebo"/>
                <a:sym typeface="Heebo"/>
              </a:rPr>
              <a:t>AKS orchestrates containers for high availability</a:t>
            </a:r>
            <a:endParaRPr sz="1750" b="0" i="0" u="none" strike="noStrike" cap="none"/>
          </a:p>
        </p:txBody>
      </p:sp>
      <p:pic>
        <p:nvPicPr>
          <p:cNvPr id="153" name="Google Shape;153;p20" descr="preencoded.png"/>
          <p:cNvPicPr preferRelativeResize="0"/>
          <p:nvPr/>
        </p:nvPicPr>
        <p:blipFill rotWithShape="1">
          <a:blip r:embed="rId7"/>
          <a:srcRect/>
          <a:stretch>
            <a:fillRect/>
          </a:stretch>
        </p:blipFill>
        <p:spPr>
          <a:xfrm>
            <a:off x="5029676" y="1766411"/>
            <a:ext cx="4571048" cy="4571048"/>
          </a:xfrm>
          <a:prstGeom prst="rect">
            <a:avLst/>
          </a:prstGeom>
          <a:noFill/>
          <a:ln>
            <a:noFill/>
          </a:ln>
        </p:spPr>
      </p:pic>
      <p:pic>
        <p:nvPicPr>
          <p:cNvPr id="154" name="Google Shape;154;p20" descr="preencoded.png"/>
          <p:cNvPicPr preferRelativeResize="0"/>
          <p:nvPr/>
        </p:nvPicPr>
        <p:blipFill rotWithShape="1">
          <a:blip r:embed="rId8"/>
          <a:srcRect/>
          <a:stretch>
            <a:fillRect/>
          </a:stretch>
        </p:blipFill>
        <p:spPr>
          <a:xfrm>
            <a:off x="5838349" y="4762024"/>
            <a:ext cx="335637" cy="419576"/>
          </a:xfrm>
          <a:prstGeom prst="rect">
            <a:avLst/>
          </a:prstGeom>
          <a:noFill/>
          <a:ln>
            <a:noFill/>
          </a:ln>
        </p:spPr>
      </p:pic>
      <p:sp>
        <p:nvSpPr>
          <p:cNvPr id="155" name="Google Shape;155;p20"/>
          <p:cNvSpPr/>
          <p:nvPr/>
        </p:nvSpPr>
        <p:spPr>
          <a:xfrm>
            <a:off x="785098" y="6589752"/>
            <a:ext cx="13060204" cy="1076563"/>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DCD7E5"/>
              </a:buClr>
              <a:buSzPts val="1750"/>
              <a:buFont typeface="Heebo"/>
              <a:buNone/>
            </a:pPr>
            <a:r>
              <a:rPr lang="en-US" sz="1750" b="0" i="0" u="none" strike="noStrike" cap="none">
                <a:solidFill>
                  <a:srgbClr val="DCD7E5"/>
                </a:solidFill>
                <a:latin typeface="Heebo"/>
                <a:ea typeface="Heebo"/>
                <a:cs typeface="Heebo"/>
                <a:sym typeface="Heebo"/>
              </a:rPr>
              <a:t>My containerization approach ensures consistency across development, testing, and production environments. By packaging the application and its dependencies into containers, we eliminate "works on my machine" problems and enable efficient scaling based on demand patterns.</a:t>
            </a:r>
            <a:endParaRPr sz="1750" b="0" i="0" u="none" strike="noStrike" cap="none"/>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60" name="Shape 160"/>
        <p:cNvGrpSpPr/>
        <p:nvPr/>
      </p:nvGrpSpPr>
      <p:grpSpPr>
        <a:xfrm>
          <a:off x="0" y="0"/>
          <a:ext cx="0" cy="0"/>
          <a:chOff x="0" y="0"/>
          <a:chExt cx="0" cy="0"/>
        </a:xfrm>
      </p:grpSpPr>
      <p:sp>
        <p:nvSpPr>
          <p:cNvPr id="161" name="Google Shape;161;p21"/>
          <p:cNvSpPr/>
          <p:nvPr/>
        </p:nvSpPr>
        <p:spPr>
          <a:xfrm>
            <a:off x="721043" y="566499"/>
            <a:ext cx="9123283" cy="643771"/>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2F0F4"/>
              </a:buClr>
              <a:buSzPts val="4050"/>
              <a:buFont typeface="Montserrat" panose="00000500000000000000"/>
              <a:buNone/>
            </a:pPr>
            <a:r>
              <a:rPr lang="en-US" sz="4050" b="1" i="0" u="none" strike="noStrike" cap="none">
                <a:solidFill>
                  <a:srgbClr val="F2F0F4"/>
                </a:solidFill>
                <a:latin typeface="Montserrat" panose="00000500000000000000"/>
                <a:ea typeface="Montserrat" panose="00000500000000000000"/>
                <a:cs typeface="Montserrat" panose="00000500000000000000"/>
                <a:sym typeface="Montserrat" panose="00000500000000000000"/>
              </a:rPr>
              <a:t>Containerization Implementation:</a:t>
            </a:r>
            <a:endParaRPr sz="4050" b="0" i="0" u="none" strike="noStrike" cap="none"/>
          </a:p>
        </p:txBody>
      </p:sp>
      <p:pic>
        <p:nvPicPr>
          <p:cNvPr id="162" name="Google Shape;162;p21" descr="preencoded.png"/>
          <p:cNvPicPr preferRelativeResize="0"/>
          <p:nvPr/>
        </p:nvPicPr>
        <p:blipFill rotWithShape="1">
          <a:blip r:embed="rId1"/>
          <a:srcRect/>
          <a:stretch>
            <a:fillRect/>
          </a:stretch>
        </p:blipFill>
        <p:spPr>
          <a:xfrm>
            <a:off x="721043" y="1750933"/>
            <a:ext cx="4060508" cy="2778204"/>
          </a:xfrm>
          <a:prstGeom prst="rect">
            <a:avLst/>
          </a:prstGeom>
          <a:noFill/>
          <a:ln>
            <a:noFill/>
          </a:ln>
        </p:spPr>
      </p:pic>
      <p:sp>
        <p:nvSpPr>
          <p:cNvPr id="163" name="Google Shape;163;p21"/>
          <p:cNvSpPr/>
          <p:nvPr/>
        </p:nvSpPr>
        <p:spPr>
          <a:xfrm>
            <a:off x="721043" y="4760833"/>
            <a:ext cx="2575322" cy="321826"/>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2F0F4"/>
              </a:buClr>
              <a:buSzPts val="2000"/>
              <a:buFont typeface="Montserrat" panose="00000500000000000000"/>
              <a:buNone/>
            </a:pPr>
            <a:r>
              <a:rPr lang="en-US" sz="2000" b="0" i="0" u="none" strike="noStrike" cap="none">
                <a:solidFill>
                  <a:srgbClr val="F2F0F4"/>
                </a:solidFill>
                <a:latin typeface="Montserrat" panose="00000500000000000000"/>
                <a:ea typeface="Montserrat" panose="00000500000000000000"/>
                <a:cs typeface="Montserrat" panose="00000500000000000000"/>
                <a:sym typeface="Montserrat" panose="00000500000000000000"/>
              </a:rPr>
              <a:t>Docker Registry</a:t>
            </a:r>
            <a:endParaRPr sz="2000" b="0" i="0" u="none" strike="noStrike" cap="none"/>
          </a:p>
        </p:txBody>
      </p:sp>
      <p:sp>
        <p:nvSpPr>
          <p:cNvPr id="164" name="Google Shape;164;p21"/>
          <p:cNvSpPr/>
          <p:nvPr/>
        </p:nvSpPr>
        <p:spPr>
          <a:xfrm>
            <a:off x="721043" y="5288637"/>
            <a:ext cx="4060508" cy="988695"/>
          </a:xfrm>
          <a:prstGeom prst="rect">
            <a:avLst/>
          </a:prstGeom>
          <a:noFill/>
          <a:ln>
            <a:noFill/>
          </a:ln>
        </p:spPr>
        <p:txBody>
          <a:bodyPr spcFirstLastPara="1" wrap="square" lIns="0" tIns="0" rIns="0" bIns="0" anchor="t" anchorCtr="0">
            <a:noAutofit/>
          </a:bodyPr>
          <a:lstStyle/>
          <a:p>
            <a:pPr marL="0" marR="0" lvl="0" indent="0" algn="l" rtl="0">
              <a:lnSpc>
                <a:spcPct val="159000"/>
              </a:lnSpc>
              <a:spcBef>
                <a:spcPts val="0"/>
              </a:spcBef>
              <a:spcAft>
                <a:spcPts val="0"/>
              </a:spcAft>
              <a:buClr>
                <a:srgbClr val="DCD7E5"/>
              </a:buClr>
              <a:buSzPts val="1600"/>
              <a:buFont typeface="Heebo"/>
              <a:buNone/>
            </a:pPr>
            <a:r>
              <a:rPr lang="en-US" sz="1600" b="0" i="0" u="none" strike="noStrike" cap="none">
                <a:solidFill>
                  <a:srgbClr val="DCD7E5"/>
                </a:solidFill>
                <a:latin typeface="Heebo"/>
                <a:ea typeface="Heebo"/>
                <a:cs typeface="Heebo"/>
                <a:sym typeface="Heebo"/>
              </a:rPr>
              <a:t>The Docker Registry stores and manages Docker images, providing a centralized location for accessing container images.</a:t>
            </a:r>
            <a:endParaRPr sz="1600" b="0" i="0" u="none" strike="noStrike" cap="none"/>
          </a:p>
        </p:txBody>
      </p:sp>
      <p:sp>
        <p:nvSpPr>
          <p:cNvPr id="165" name="Google Shape;165;p21"/>
          <p:cNvSpPr/>
          <p:nvPr/>
        </p:nvSpPr>
        <p:spPr>
          <a:xfrm>
            <a:off x="721043" y="6462713"/>
            <a:ext cx="4060508" cy="659130"/>
          </a:xfrm>
          <a:prstGeom prst="rect">
            <a:avLst/>
          </a:prstGeom>
          <a:noFill/>
          <a:ln>
            <a:noFill/>
          </a:ln>
        </p:spPr>
        <p:txBody>
          <a:bodyPr spcFirstLastPara="1" wrap="square" lIns="0" tIns="0" rIns="0" bIns="0" anchor="t" anchorCtr="0">
            <a:noAutofit/>
          </a:bodyPr>
          <a:lstStyle/>
          <a:p>
            <a:pPr marL="0" marR="0" lvl="0" indent="0" algn="l" rtl="0">
              <a:lnSpc>
                <a:spcPct val="159000"/>
              </a:lnSpc>
              <a:spcBef>
                <a:spcPts val="0"/>
              </a:spcBef>
              <a:spcAft>
                <a:spcPts val="0"/>
              </a:spcAft>
              <a:buClr>
                <a:srgbClr val="DCD7E5"/>
              </a:buClr>
              <a:buSzPts val="1600"/>
              <a:buFont typeface="Heebo"/>
              <a:buNone/>
            </a:pPr>
            <a:r>
              <a:rPr lang="en-US" sz="1600" b="0" i="0" u="none" strike="noStrike" cap="none">
                <a:solidFill>
                  <a:srgbClr val="DCD7E5"/>
                </a:solidFill>
                <a:latin typeface="Heebo"/>
                <a:ea typeface="Heebo"/>
                <a:cs typeface="Heebo"/>
                <a:sym typeface="Heebo"/>
              </a:rPr>
              <a:t>Link: </a:t>
            </a:r>
            <a:r>
              <a:rPr lang="en-US" sz="1600" b="0" i="0" u="sng" strike="noStrike" cap="none">
                <a:solidFill>
                  <a:schemeClr val="hlink"/>
                </a:solidFill>
                <a:latin typeface="Heebo"/>
                <a:ea typeface="Heebo"/>
                <a:cs typeface="Heebo"/>
                <a:sym typeface="Heebo"/>
                <a:hlinkClick r:id="rId2"/>
              </a:rPr>
              <a:t>https://hub.docker.com/search?q=sayan896</a:t>
            </a:r>
            <a:endParaRPr sz="1600" b="0" i="0" u="none" strike="noStrike" cap="none"/>
          </a:p>
        </p:txBody>
      </p:sp>
      <p:pic>
        <p:nvPicPr>
          <p:cNvPr id="166" name="Google Shape;166;p21" descr="preencoded.png"/>
          <p:cNvPicPr preferRelativeResize="0"/>
          <p:nvPr/>
        </p:nvPicPr>
        <p:blipFill rotWithShape="1">
          <a:blip r:embed="rId3"/>
          <a:srcRect/>
          <a:stretch>
            <a:fillRect/>
          </a:stretch>
        </p:blipFill>
        <p:spPr>
          <a:xfrm>
            <a:off x="5291852" y="1750933"/>
            <a:ext cx="4060508" cy="2778204"/>
          </a:xfrm>
          <a:prstGeom prst="rect">
            <a:avLst/>
          </a:prstGeom>
          <a:noFill/>
          <a:ln>
            <a:noFill/>
          </a:ln>
        </p:spPr>
      </p:pic>
      <p:sp>
        <p:nvSpPr>
          <p:cNvPr id="167" name="Google Shape;167;p21"/>
          <p:cNvSpPr/>
          <p:nvPr/>
        </p:nvSpPr>
        <p:spPr>
          <a:xfrm>
            <a:off x="5291852" y="4760833"/>
            <a:ext cx="2575322" cy="321826"/>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2F0F4"/>
              </a:buClr>
              <a:buSzPts val="2000"/>
              <a:buFont typeface="Montserrat" panose="00000500000000000000"/>
              <a:buNone/>
            </a:pPr>
            <a:r>
              <a:rPr lang="en-US" sz="2000" b="0" i="0" u="none" strike="noStrike" cap="none">
                <a:solidFill>
                  <a:srgbClr val="F2F0F4"/>
                </a:solidFill>
                <a:latin typeface="Montserrat" panose="00000500000000000000"/>
                <a:ea typeface="Montserrat" panose="00000500000000000000"/>
                <a:cs typeface="Montserrat" panose="00000500000000000000"/>
                <a:sym typeface="Montserrat" panose="00000500000000000000"/>
              </a:rPr>
              <a:t>Git Repo</a:t>
            </a:r>
            <a:endParaRPr sz="2000" b="0" i="0" u="none" strike="noStrike" cap="none"/>
          </a:p>
        </p:txBody>
      </p:sp>
      <p:sp>
        <p:nvSpPr>
          <p:cNvPr id="168" name="Google Shape;168;p21"/>
          <p:cNvSpPr/>
          <p:nvPr/>
        </p:nvSpPr>
        <p:spPr>
          <a:xfrm>
            <a:off x="5291852" y="5288637"/>
            <a:ext cx="4060508" cy="1318260"/>
          </a:xfrm>
          <a:prstGeom prst="rect">
            <a:avLst/>
          </a:prstGeom>
          <a:noFill/>
          <a:ln>
            <a:noFill/>
          </a:ln>
        </p:spPr>
        <p:txBody>
          <a:bodyPr spcFirstLastPara="1" wrap="square" lIns="0" tIns="0" rIns="0" bIns="0" anchor="t" anchorCtr="0">
            <a:noAutofit/>
          </a:bodyPr>
          <a:lstStyle/>
          <a:p>
            <a:pPr marL="0" marR="0" lvl="0" indent="0" algn="l" rtl="0">
              <a:lnSpc>
                <a:spcPct val="159000"/>
              </a:lnSpc>
              <a:spcBef>
                <a:spcPts val="0"/>
              </a:spcBef>
              <a:spcAft>
                <a:spcPts val="0"/>
              </a:spcAft>
              <a:buClr>
                <a:srgbClr val="DCD7E5"/>
              </a:buClr>
              <a:buSzPts val="1600"/>
              <a:buFont typeface="Heebo"/>
              <a:buNone/>
            </a:pPr>
            <a:r>
              <a:rPr lang="en-US" sz="1600" b="0" i="0" u="none" strike="noStrike" cap="none">
                <a:solidFill>
                  <a:srgbClr val="DCD7E5"/>
                </a:solidFill>
                <a:latin typeface="Heebo"/>
                <a:ea typeface="Heebo"/>
                <a:cs typeface="Heebo"/>
                <a:sym typeface="Heebo"/>
              </a:rPr>
              <a:t>The Git repository hosts the source code, configurations, and deployment scripts for the application, enabling version control and collaboration.</a:t>
            </a:r>
            <a:endParaRPr sz="1600" b="0" i="0" u="none" strike="noStrike" cap="none"/>
          </a:p>
        </p:txBody>
      </p:sp>
      <p:sp>
        <p:nvSpPr>
          <p:cNvPr id="169" name="Google Shape;169;p21"/>
          <p:cNvSpPr/>
          <p:nvPr/>
        </p:nvSpPr>
        <p:spPr>
          <a:xfrm>
            <a:off x="5291852" y="6792278"/>
            <a:ext cx="4060508" cy="988695"/>
          </a:xfrm>
          <a:prstGeom prst="rect">
            <a:avLst/>
          </a:prstGeom>
          <a:noFill/>
          <a:ln>
            <a:noFill/>
          </a:ln>
        </p:spPr>
        <p:txBody>
          <a:bodyPr spcFirstLastPara="1" wrap="square" lIns="0" tIns="0" rIns="0" bIns="0" anchor="t" anchorCtr="0">
            <a:noAutofit/>
          </a:bodyPr>
          <a:lstStyle/>
          <a:p>
            <a:pPr marL="0" marR="0" lvl="0" indent="0" algn="l" rtl="0">
              <a:lnSpc>
                <a:spcPct val="159000"/>
              </a:lnSpc>
              <a:spcBef>
                <a:spcPts val="0"/>
              </a:spcBef>
              <a:spcAft>
                <a:spcPts val="0"/>
              </a:spcAft>
              <a:buClr>
                <a:srgbClr val="DCD7E5"/>
              </a:buClr>
              <a:buSzPts val="1600"/>
              <a:buFont typeface="Heebo"/>
              <a:buNone/>
            </a:pPr>
            <a:r>
              <a:rPr lang="en-US" sz="1600" b="0" i="0" u="none" strike="noStrike" cap="none">
                <a:solidFill>
                  <a:srgbClr val="DCD7E5"/>
                </a:solidFill>
                <a:latin typeface="Heebo"/>
                <a:ea typeface="Heebo"/>
                <a:cs typeface="Heebo"/>
                <a:sym typeface="Heebo"/>
              </a:rPr>
              <a:t>Link: </a:t>
            </a:r>
            <a:r>
              <a:rPr lang="en-US" sz="1600" b="0" i="0" u="sng" strike="noStrike" cap="none">
                <a:solidFill>
                  <a:schemeClr val="hlink"/>
                </a:solidFill>
                <a:latin typeface="Heebo"/>
                <a:ea typeface="Heebo"/>
                <a:cs typeface="Heebo"/>
                <a:sym typeface="Heebo"/>
                <a:hlinkClick r:id="rId4"/>
              </a:rPr>
              <a:t>https://github.com/Sayan8967/myaiwebapp/tree/V3.Kube_Prod</a:t>
            </a:r>
            <a:endParaRPr sz="1600" b="0" i="0" u="none" strike="noStrike" cap="none"/>
          </a:p>
        </p:txBody>
      </p:sp>
      <p:pic>
        <p:nvPicPr>
          <p:cNvPr id="170" name="Google Shape;170;p21" descr="preencoded.png"/>
          <p:cNvPicPr preferRelativeResize="0"/>
          <p:nvPr/>
        </p:nvPicPr>
        <p:blipFill rotWithShape="1">
          <a:blip r:embed="rId5"/>
          <a:srcRect/>
          <a:stretch>
            <a:fillRect/>
          </a:stretch>
        </p:blipFill>
        <p:spPr>
          <a:xfrm>
            <a:off x="9862661" y="1750933"/>
            <a:ext cx="4060508" cy="2778204"/>
          </a:xfrm>
          <a:prstGeom prst="rect">
            <a:avLst/>
          </a:prstGeom>
          <a:noFill/>
          <a:ln>
            <a:noFill/>
          </a:ln>
        </p:spPr>
      </p:pic>
      <p:sp>
        <p:nvSpPr>
          <p:cNvPr id="171" name="Google Shape;171;p21"/>
          <p:cNvSpPr/>
          <p:nvPr/>
        </p:nvSpPr>
        <p:spPr>
          <a:xfrm>
            <a:off x="9862661" y="4760833"/>
            <a:ext cx="2575322" cy="321826"/>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2F0F4"/>
              </a:buClr>
              <a:buSzPts val="2000"/>
              <a:buFont typeface="Montserrat" panose="00000500000000000000"/>
              <a:buNone/>
            </a:pPr>
            <a:r>
              <a:rPr lang="en-US" sz="2000" b="0" i="0" u="none" strike="noStrike" cap="none">
                <a:solidFill>
                  <a:srgbClr val="F2F0F4"/>
                </a:solidFill>
                <a:latin typeface="Montserrat" panose="00000500000000000000"/>
                <a:ea typeface="Montserrat" panose="00000500000000000000"/>
                <a:cs typeface="Montserrat" panose="00000500000000000000"/>
                <a:sym typeface="Montserrat" panose="00000500000000000000"/>
              </a:rPr>
              <a:t>Azure Repo</a:t>
            </a:r>
            <a:endParaRPr sz="2000" b="0" i="0" u="none" strike="noStrike" cap="none"/>
          </a:p>
        </p:txBody>
      </p:sp>
      <p:sp>
        <p:nvSpPr>
          <p:cNvPr id="172" name="Google Shape;172;p21"/>
          <p:cNvSpPr/>
          <p:nvPr/>
        </p:nvSpPr>
        <p:spPr>
          <a:xfrm>
            <a:off x="9862661" y="5288637"/>
            <a:ext cx="4060508" cy="1318260"/>
          </a:xfrm>
          <a:prstGeom prst="rect">
            <a:avLst/>
          </a:prstGeom>
          <a:noFill/>
          <a:ln>
            <a:noFill/>
          </a:ln>
        </p:spPr>
        <p:txBody>
          <a:bodyPr spcFirstLastPara="1" wrap="square" lIns="0" tIns="0" rIns="0" bIns="0" anchor="t" anchorCtr="0">
            <a:noAutofit/>
          </a:bodyPr>
          <a:lstStyle/>
          <a:p>
            <a:pPr marL="0" marR="0" lvl="0" indent="0" algn="l" rtl="0">
              <a:lnSpc>
                <a:spcPct val="159000"/>
              </a:lnSpc>
              <a:spcBef>
                <a:spcPts val="0"/>
              </a:spcBef>
              <a:spcAft>
                <a:spcPts val="0"/>
              </a:spcAft>
              <a:buClr>
                <a:srgbClr val="DCD7E5"/>
              </a:buClr>
              <a:buSzPts val="1600"/>
              <a:buFont typeface="Heebo"/>
              <a:buNone/>
            </a:pPr>
            <a:r>
              <a:rPr lang="en-US" sz="1600" b="0" i="0" u="none" strike="noStrike" cap="none">
                <a:solidFill>
                  <a:srgbClr val="DCD7E5"/>
                </a:solidFill>
                <a:latin typeface="Heebo"/>
                <a:ea typeface="Heebo"/>
                <a:cs typeface="Heebo"/>
                <a:sym typeface="Heebo"/>
              </a:rPr>
              <a:t>Azure Repos provides cloud-hosted private Git repositories for secure and scalable source control management within the Azure ecosystem.</a:t>
            </a:r>
            <a:endParaRPr sz="1600" b="0" i="0" u="none" strike="noStrike" cap="none"/>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77" name="Shape 177"/>
        <p:cNvGrpSpPr/>
        <p:nvPr/>
      </p:nvGrpSpPr>
      <p:grpSpPr>
        <a:xfrm>
          <a:off x="0" y="0"/>
          <a:ext cx="0" cy="0"/>
          <a:chOff x="0" y="0"/>
          <a:chExt cx="0" cy="0"/>
        </a:xfrm>
      </p:grpSpPr>
      <p:pic>
        <p:nvPicPr>
          <p:cNvPr id="178" name="Google Shape;178;p22" descr="preencoded.png"/>
          <p:cNvPicPr preferRelativeResize="0"/>
          <p:nvPr/>
        </p:nvPicPr>
        <p:blipFill rotWithShape="1">
          <a:blip r:embed="rId1"/>
          <a:srcRect/>
          <a:stretch>
            <a:fillRect/>
          </a:stretch>
        </p:blipFill>
        <p:spPr>
          <a:xfrm>
            <a:off x="9144000" y="0"/>
            <a:ext cx="5486400" cy="8229600"/>
          </a:xfrm>
          <a:prstGeom prst="rect">
            <a:avLst/>
          </a:prstGeom>
          <a:noFill/>
          <a:ln>
            <a:noFill/>
          </a:ln>
        </p:spPr>
      </p:pic>
      <p:sp>
        <p:nvSpPr>
          <p:cNvPr id="179" name="Google Shape;179;p22"/>
          <p:cNvSpPr/>
          <p:nvPr/>
        </p:nvSpPr>
        <p:spPr>
          <a:xfrm>
            <a:off x="606147" y="748189"/>
            <a:ext cx="7378660" cy="541258"/>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2F0F4"/>
              </a:buClr>
              <a:buSzPts val="3400"/>
              <a:buFont typeface="Montserrat" panose="00000500000000000000"/>
              <a:buNone/>
            </a:pPr>
            <a:r>
              <a:rPr lang="en-US" sz="3400" b="0" i="0" u="none" strike="noStrike" cap="none">
                <a:solidFill>
                  <a:srgbClr val="F2F0F4"/>
                </a:solidFill>
                <a:latin typeface="Montserrat" panose="00000500000000000000"/>
                <a:ea typeface="Montserrat" panose="00000500000000000000"/>
                <a:cs typeface="Montserrat" panose="00000500000000000000"/>
                <a:sym typeface="Montserrat" panose="00000500000000000000"/>
              </a:rPr>
              <a:t>I</a:t>
            </a:r>
            <a:r>
              <a:rPr lang="en-US" sz="3400" b="1" i="0" u="none" strike="noStrike" cap="none">
                <a:solidFill>
                  <a:srgbClr val="F2F0F4"/>
                </a:solidFill>
                <a:latin typeface="Montserrat" panose="00000500000000000000"/>
                <a:ea typeface="Montserrat" panose="00000500000000000000"/>
                <a:cs typeface="Montserrat" panose="00000500000000000000"/>
                <a:sym typeface="Montserrat" panose="00000500000000000000"/>
              </a:rPr>
              <a:t>nfrastructure as Code &amp; DevOps</a:t>
            </a:r>
            <a:endParaRPr sz="3400" b="0" i="0" u="none" strike="noStrike" cap="none"/>
          </a:p>
        </p:txBody>
      </p:sp>
      <p:pic>
        <p:nvPicPr>
          <p:cNvPr id="180" name="Google Shape;180;p22" descr="preencoded.png"/>
          <p:cNvPicPr preferRelativeResize="0"/>
          <p:nvPr/>
        </p:nvPicPr>
        <p:blipFill rotWithShape="1">
          <a:blip r:embed="rId2"/>
          <a:srcRect/>
          <a:stretch>
            <a:fillRect/>
          </a:stretch>
        </p:blipFill>
        <p:spPr>
          <a:xfrm>
            <a:off x="606147" y="1549241"/>
            <a:ext cx="866061" cy="1039178"/>
          </a:xfrm>
          <a:prstGeom prst="rect">
            <a:avLst/>
          </a:prstGeom>
          <a:noFill/>
          <a:ln>
            <a:noFill/>
          </a:ln>
        </p:spPr>
      </p:pic>
      <p:sp>
        <p:nvSpPr>
          <p:cNvPr id="181" name="Google Shape;181;p22"/>
          <p:cNvSpPr/>
          <p:nvPr/>
        </p:nvSpPr>
        <p:spPr>
          <a:xfrm>
            <a:off x="1732002" y="1722358"/>
            <a:ext cx="2165152" cy="270629"/>
          </a:xfrm>
          <a:prstGeom prst="rect">
            <a:avLst/>
          </a:prstGeom>
          <a:noFill/>
          <a:ln>
            <a:noFill/>
          </a:ln>
        </p:spPr>
        <p:txBody>
          <a:bodyPr spcFirstLastPara="1" wrap="square" lIns="0" tIns="0" rIns="0" bIns="0" anchor="t" anchorCtr="0">
            <a:noAutofit/>
          </a:bodyPr>
          <a:lstStyle/>
          <a:p>
            <a:pPr marL="0" marR="0" lvl="0" indent="0" algn="l" rtl="0">
              <a:lnSpc>
                <a:spcPct val="124000"/>
              </a:lnSpc>
              <a:spcBef>
                <a:spcPts val="0"/>
              </a:spcBef>
              <a:spcAft>
                <a:spcPts val="0"/>
              </a:spcAft>
              <a:buClr>
                <a:srgbClr val="DCD7E5"/>
              </a:buClr>
              <a:buSzPts val="1700"/>
              <a:buFont typeface="Montserrat" panose="00000500000000000000"/>
              <a:buNone/>
            </a:pPr>
            <a:r>
              <a:rPr lang="en-US" sz="170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Version Control</a:t>
            </a:r>
            <a:endParaRPr sz="1700" b="0" i="0" u="none" strike="noStrike" cap="none"/>
          </a:p>
        </p:txBody>
      </p:sp>
      <p:sp>
        <p:nvSpPr>
          <p:cNvPr id="182" name="Google Shape;182;p22"/>
          <p:cNvSpPr/>
          <p:nvPr/>
        </p:nvSpPr>
        <p:spPr>
          <a:xfrm>
            <a:off x="1732002" y="2096810"/>
            <a:ext cx="6805851" cy="277178"/>
          </a:xfrm>
          <a:prstGeom prst="rect">
            <a:avLst/>
          </a:prstGeom>
          <a:noFill/>
          <a:ln>
            <a:noFill/>
          </a:ln>
        </p:spPr>
        <p:txBody>
          <a:bodyPr spcFirstLastPara="1" wrap="square" lIns="0" tIns="0" rIns="0" bIns="0" anchor="t" anchorCtr="0">
            <a:noAutofit/>
          </a:bodyPr>
          <a:lstStyle/>
          <a:p>
            <a:pPr marL="0" marR="0" lvl="0" indent="0" algn="l" rtl="0">
              <a:lnSpc>
                <a:spcPct val="159000"/>
              </a:lnSpc>
              <a:spcBef>
                <a:spcPts val="0"/>
              </a:spcBef>
              <a:spcAft>
                <a:spcPts val="0"/>
              </a:spcAft>
              <a:buClr>
                <a:srgbClr val="DCD7E5"/>
              </a:buClr>
              <a:buSzPts val="1350"/>
              <a:buFont typeface="Heebo"/>
              <a:buNone/>
            </a:pPr>
            <a:r>
              <a:rPr lang="en-US" sz="1350" b="0" i="0" u="none" strike="noStrike" cap="none">
                <a:solidFill>
                  <a:srgbClr val="DCD7E5"/>
                </a:solidFill>
                <a:latin typeface="Heebo"/>
                <a:ea typeface="Heebo"/>
                <a:cs typeface="Heebo"/>
                <a:sym typeface="Heebo"/>
              </a:rPr>
              <a:t>Git repositories in Azure Repos</a:t>
            </a:r>
            <a:endParaRPr sz="1350" b="0" i="0" u="none" strike="noStrike" cap="none"/>
          </a:p>
        </p:txBody>
      </p:sp>
      <p:pic>
        <p:nvPicPr>
          <p:cNvPr id="183" name="Google Shape;183;p22" descr="preencoded.png"/>
          <p:cNvPicPr preferRelativeResize="0"/>
          <p:nvPr/>
        </p:nvPicPr>
        <p:blipFill rotWithShape="1">
          <a:blip r:embed="rId3"/>
          <a:srcRect/>
          <a:stretch>
            <a:fillRect/>
          </a:stretch>
        </p:blipFill>
        <p:spPr>
          <a:xfrm>
            <a:off x="606147" y="2588419"/>
            <a:ext cx="866061" cy="1039178"/>
          </a:xfrm>
          <a:prstGeom prst="rect">
            <a:avLst/>
          </a:prstGeom>
          <a:noFill/>
          <a:ln>
            <a:noFill/>
          </a:ln>
        </p:spPr>
      </p:pic>
      <p:sp>
        <p:nvSpPr>
          <p:cNvPr id="184" name="Google Shape;184;p22"/>
          <p:cNvSpPr/>
          <p:nvPr/>
        </p:nvSpPr>
        <p:spPr>
          <a:xfrm>
            <a:off x="1732002" y="2761536"/>
            <a:ext cx="2165152" cy="270629"/>
          </a:xfrm>
          <a:prstGeom prst="rect">
            <a:avLst/>
          </a:prstGeom>
          <a:noFill/>
          <a:ln>
            <a:noFill/>
          </a:ln>
        </p:spPr>
        <p:txBody>
          <a:bodyPr spcFirstLastPara="1" wrap="square" lIns="0" tIns="0" rIns="0" bIns="0" anchor="t" anchorCtr="0">
            <a:noAutofit/>
          </a:bodyPr>
          <a:lstStyle/>
          <a:p>
            <a:pPr marL="0" marR="0" lvl="0" indent="0" algn="l" rtl="0">
              <a:lnSpc>
                <a:spcPct val="124000"/>
              </a:lnSpc>
              <a:spcBef>
                <a:spcPts val="0"/>
              </a:spcBef>
              <a:spcAft>
                <a:spcPts val="0"/>
              </a:spcAft>
              <a:buClr>
                <a:srgbClr val="DCD7E5"/>
              </a:buClr>
              <a:buSzPts val="1700"/>
              <a:buFont typeface="Montserrat" panose="00000500000000000000"/>
              <a:buNone/>
            </a:pPr>
            <a:r>
              <a:rPr lang="en-US" sz="170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Infrastructure Code</a:t>
            </a:r>
            <a:endParaRPr sz="1700" b="0" i="0" u="none" strike="noStrike" cap="none"/>
          </a:p>
        </p:txBody>
      </p:sp>
      <p:sp>
        <p:nvSpPr>
          <p:cNvPr id="185" name="Google Shape;185;p22"/>
          <p:cNvSpPr/>
          <p:nvPr/>
        </p:nvSpPr>
        <p:spPr>
          <a:xfrm>
            <a:off x="1732002" y="3135987"/>
            <a:ext cx="6805851" cy="277178"/>
          </a:xfrm>
          <a:prstGeom prst="rect">
            <a:avLst/>
          </a:prstGeom>
          <a:noFill/>
          <a:ln>
            <a:noFill/>
          </a:ln>
        </p:spPr>
        <p:txBody>
          <a:bodyPr spcFirstLastPara="1" wrap="square" lIns="0" tIns="0" rIns="0" bIns="0" anchor="t" anchorCtr="0">
            <a:noAutofit/>
          </a:bodyPr>
          <a:lstStyle/>
          <a:p>
            <a:pPr marL="0" marR="0" lvl="0" indent="0" algn="l" rtl="0">
              <a:lnSpc>
                <a:spcPct val="159000"/>
              </a:lnSpc>
              <a:spcBef>
                <a:spcPts val="0"/>
              </a:spcBef>
              <a:spcAft>
                <a:spcPts val="0"/>
              </a:spcAft>
              <a:buClr>
                <a:srgbClr val="DCD7E5"/>
              </a:buClr>
              <a:buSzPts val="1350"/>
              <a:buFont typeface="Heebo"/>
              <a:buNone/>
            </a:pPr>
            <a:r>
              <a:rPr lang="en-US" sz="1350" b="0" i="0" u="none" strike="noStrike" cap="none">
                <a:solidFill>
                  <a:srgbClr val="DCD7E5"/>
                </a:solidFill>
                <a:latin typeface="Heebo"/>
                <a:ea typeface="Heebo"/>
                <a:cs typeface="Heebo"/>
                <a:sym typeface="Heebo"/>
              </a:rPr>
              <a:t>Terraform modules for Azure resources</a:t>
            </a:r>
            <a:endParaRPr sz="1350" b="0" i="0" u="none" strike="noStrike" cap="none"/>
          </a:p>
        </p:txBody>
      </p:sp>
      <p:pic>
        <p:nvPicPr>
          <p:cNvPr id="186" name="Google Shape;186;p22" descr="preencoded.png"/>
          <p:cNvPicPr preferRelativeResize="0"/>
          <p:nvPr/>
        </p:nvPicPr>
        <p:blipFill rotWithShape="1">
          <a:blip r:embed="rId4"/>
          <a:srcRect/>
          <a:stretch>
            <a:fillRect/>
          </a:stretch>
        </p:blipFill>
        <p:spPr>
          <a:xfrm>
            <a:off x="606147" y="3627596"/>
            <a:ext cx="866061" cy="1039178"/>
          </a:xfrm>
          <a:prstGeom prst="rect">
            <a:avLst/>
          </a:prstGeom>
          <a:noFill/>
          <a:ln>
            <a:noFill/>
          </a:ln>
        </p:spPr>
      </p:pic>
      <p:sp>
        <p:nvSpPr>
          <p:cNvPr id="187" name="Google Shape;187;p22"/>
          <p:cNvSpPr/>
          <p:nvPr/>
        </p:nvSpPr>
        <p:spPr>
          <a:xfrm>
            <a:off x="1732002" y="3800713"/>
            <a:ext cx="2165152" cy="270629"/>
          </a:xfrm>
          <a:prstGeom prst="rect">
            <a:avLst/>
          </a:prstGeom>
          <a:noFill/>
          <a:ln>
            <a:noFill/>
          </a:ln>
        </p:spPr>
        <p:txBody>
          <a:bodyPr spcFirstLastPara="1" wrap="square" lIns="0" tIns="0" rIns="0" bIns="0" anchor="t" anchorCtr="0">
            <a:noAutofit/>
          </a:bodyPr>
          <a:lstStyle/>
          <a:p>
            <a:pPr marL="0" marR="0" lvl="0" indent="0" algn="l" rtl="0">
              <a:lnSpc>
                <a:spcPct val="124000"/>
              </a:lnSpc>
              <a:spcBef>
                <a:spcPts val="0"/>
              </a:spcBef>
              <a:spcAft>
                <a:spcPts val="0"/>
              </a:spcAft>
              <a:buClr>
                <a:srgbClr val="DCD7E5"/>
              </a:buClr>
              <a:buSzPts val="1700"/>
              <a:buFont typeface="Montserrat" panose="00000500000000000000"/>
              <a:buNone/>
            </a:pPr>
            <a:r>
              <a:rPr lang="en-US" sz="170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CI/CD Pipeline</a:t>
            </a:r>
            <a:endParaRPr sz="1700" b="0" i="0" u="none" strike="noStrike" cap="none"/>
          </a:p>
        </p:txBody>
      </p:sp>
      <p:sp>
        <p:nvSpPr>
          <p:cNvPr id="188" name="Google Shape;188;p22"/>
          <p:cNvSpPr/>
          <p:nvPr/>
        </p:nvSpPr>
        <p:spPr>
          <a:xfrm>
            <a:off x="1732002" y="4175165"/>
            <a:ext cx="6805851" cy="277178"/>
          </a:xfrm>
          <a:prstGeom prst="rect">
            <a:avLst/>
          </a:prstGeom>
          <a:noFill/>
          <a:ln>
            <a:noFill/>
          </a:ln>
        </p:spPr>
        <p:txBody>
          <a:bodyPr spcFirstLastPara="1" wrap="square" lIns="0" tIns="0" rIns="0" bIns="0" anchor="t" anchorCtr="0">
            <a:noAutofit/>
          </a:bodyPr>
          <a:lstStyle/>
          <a:p>
            <a:pPr marL="0" marR="0" lvl="0" indent="0" algn="l" rtl="0">
              <a:lnSpc>
                <a:spcPct val="159000"/>
              </a:lnSpc>
              <a:spcBef>
                <a:spcPts val="0"/>
              </a:spcBef>
              <a:spcAft>
                <a:spcPts val="0"/>
              </a:spcAft>
              <a:buClr>
                <a:srgbClr val="DCD7E5"/>
              </a:buClr>
              <a:buSzPts val="1350"/>
              <a:buFont typeface="Heebo"/>
              <a:buNone/>
            </a:pPr>
            <a:r>
              <a:rPr lang="en-US" sz="1350" b="0" i="0" u="none" strike="noStrike" cap="none">
                <a:solidFill>
                  <a:srgbClr val="DCD7E5"/>
                </a:solidFill>
                <a:latin typeface="Heebo"/>
                <a:ea typeface="Heebo"/>
                <a:cs typeface="Heebo"/>
                <a:sym typeface="Heebo"/>
              </a:rPr>
              <a:t>Azure DevOps automated workflows</a:t>
            </a:r>
            <a:endParaRPr sz="1350" b="0" i="0" u="none" strike="noStrike" cap="none"/>
          </a:p>
        </p:txBody>
      </p:sp>
      <p:pic>
        <p:nvPicPr>
          <p:cNvPr id="189" name="Google Shape;189;p22" descr="preencoded.png"/>
          <p:cNvPicPr preferRelativeResize="0"/>
          <p:nvPr/>
        </p:nvPicPr>
        <p:blipFill rotWithShape="1">
          <a:blip r:embed="rId5"/>
          <a:srcRect/>
          <a:stretch>
            <a:fillRect/>
          </a:stretch>
        </p:blipFill>
        <p:spPr>
          <a:xfrm>
            <a:off x="606147" y="4666774"/>
            <a:ext cx="866061" cy="1039178"/>
          </a:xfrm>
          <a:prstGeom prst="rect">
            <a:avLst/>
          </a:prstGeom>
          <a:noFill/>
          <a:ln>
            <a:noFill/>
          </a:ln>
        </p:spPr>
      </p:pic>
      <p:sp>
        <p:nvSpPr>
          <p:cNvPr id="190" name="Google Shape;190;p22"/>
          <p:cNvSpPr/>
          <p:nvPr/>
        </p:nvSpPr>
        <p:spPr>
          <a:xfrm>
            <a:off x="1732002" y="4839891"/>
            <a:ext cx="2165152" cy="270629"/>
          </a:xfrm>
          <a:prstGeom prst="rect">
            <a:avLst/>
          </a:prstGeom>
          <a:noFill/>
          <a:ln>
            <a:noFill/>
          </a:ln>
        </p:spPr>
        <p:txBody>
          <a:bodyPr spcFirstLastPara="1" wrap="square" lIns="0" tIns="0" rIns="0" bIns="0" anchor="t" anchorCtr="0">
            <a:noAutofit/>
          </a:bodyPr>
          <a:lstStyle/>
          <a:p>
            <a:pPr marL="0" marR="0" lvl="0" indent="0" algn="l" rtl="0">
              <a:lnSpc>
                <a:spcPct val="124000"/>
              </a:lnSpc>
              <a:spcBef>
                <a:spcPts val="0"/>
              </a:spcBef>
              <a:spcAft>
                <a:spcPts val="0"/>
              </a:spcAft>
              <a:buClr>
                <a:srgbClr val="DCD7E5"/>
              </a:buClr>
              <a:buSzPts val="1700"/>
              <a:buFont typeface="Montserrat" panose="00000500000000000000"/>
              <a:buNone/>
            </a:pPr>
            <a:r>
              <a:rPr lang="en-US" sz="170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Deployment</a:t>
            </a:r>
            <a:endParaRPr sz="1700" b="0" i="0" u="none" strike="noStrike" cap="none"/>
          </a:p>
        </p:txBody>
      </p:sp>
      <p:sp>
        <p:nvSpPr>
          <p:cNvPr id="191" name="Google Shape;191;p22"/>
          <p:cNvSpPr/>
          <p:nvPr/>
        </p:nvSpPr>
        <p:spPr>
          <a:xfrm>
            <a:off x="1732002" y="5214342"/>
            <a:ext cx="6805851" cy="277178"/>
          </a:xfrm>
          <a:prstGeom prst="rect">
            <a:avLst/>
          </a:prstGeom>
          <a:noFill/>
          <a:ln>
            <a:noFill/>
          </a:ln>
        </p:spPr>
        <p:txBody>
          <a:bodyPr spcFirstLastPara="1" wrap="square" lIns="0" tIns="0" rIns="0" bIns="0" anchor="t" anchorCtr="0">
            <a:noAutofit/>
          </a:bodyPr>
          <a:lstStyle/>
          <a:p>
            <a:pPr marL="0" marR="0" lvl="0" indent="0" algn="l" rtl="0">
              <a:lnSpc>
                <a:spcPct val="159000"/>
              </a:lnSpc>
              <a:spcBef>
                <a:spcPts val="0"/>
              </a:spcBef>
              <a:spcAft>
                <a:spcPts val="0"/>
              </a:spcAft>
              <a:buClr>
                <a:srgbClr val="DCD7E5"/>
              </a:buClr>
              <a:buSzPts val="1350"/>
              <a:buFont typeface="Heebo"/>
              <a:buNone/>
            </a:pPr>
            <a:r>
              <a:rPr lang="en-US" sz="1350" b="0" i="0" u="none" strike="noStrike" cap="none">
                <a:solidFill>
                  <a:srgbClr val="DCD7E5"/>
                </a:solidFill>
                <a:latin typeface="Heebo"/>
                <a:ea typeface="Heebo"/>
                <a:cs typeface="Heebo"/>
                <a:sym typeface="Heebo"/>
              </a:rPr>
              <a:t>Automated AKS provisioning</a:t>
            </a:r>
            <a:endParaRPr sz="1350" b="0" i="0" u="none" strike="noStrike" cap="none"/>
          </a:p>
        </p:txBody>
      </p:sp>
      <p:sp>
        <p:nvSpPr>
          <p:cNvPr id="192" name="Google Shape;192;p22"/>
          <p:cNvSpPr/>
          <p:nvPr/>
        </p:nvSpPr>
        <p:spPr>
          <a:xfrm>
            <a:off x="606147" y="5900738"/>
            <a:ext cx="7931706" cy="831532"/>
          </a:xfrm>
          <a:prstGeom prst="rect">
            <a:avLst/>
          </a:prstGeom>
          <a:noFill/>
          <a:ln>
            <a:noFill/>
          </a:ln>
        </p:spPr>
        <p:txBody>
          <a:bodyPr spcFirstLastPara="1" wrap="square" lIns="0" tIns="0" rIns="0" bIns="0" anchor="t" anchorCtr="0">
            <a:noAutofit/>
          </a:bodyPr>
          <a:lstStyle/>
          <a:p>
            <a:pPr marL="0" marR="0" lvl="0" indent="0" algn="l" rtl="0">
              <a:lnSpc>
                <a:spcPct val="159000"/>
              </a:lnSpc>
              <a:spcBef>
                <a:spcPts val="0"/>
              </a:spcBef>
              <a:spcAft>
                <a:spcPts val="0"/>
              </a:spcAft>
              <a:buClr>
                <a:srgbClr val="DCD7E5"/>
              </a:buClr>
              <a:buSzPts val="1350"/>
              <a:buFont typeface="Heebo"/>
              <a:buNone/>
            </a:pPr>
            <a:r>
              <a:rPr lang="en-US" sz="1350" b="0" i="0" u="none" strike="noStrike" cap="none">
                <a:solidFill>
                  <a:srgbClr val="DCD7E5"/>
                </a:solidFill>
                <a:latin typeface="Heebo"/>
                <a:ea typeface="Heebo"/>
                <a:cs typeface="Heebo"/>
                <a:sym typeface="Heebo"/>
              </a:rPr>
              <a:t>Our Infrastructure as Code approach with Terraform enables reproducible deployments and version-controlled infrastructure changes. The entire environment can be recreated from scratch using declarative configuration files, eliminating manual configuration drift.</a:t>
            </a:r>
            <a:endParaRPr sz="1350" b="0" i="0" u="none" strike="noStrike" cap="none"/>
          </a:p>
        </p:txBody>
      </p:sp>
      <p:sp>
        <p:nvSpPr>
          <p:cNvPr id="193" name="Google Shape;193;p22"/>
          <p:cNvSpPr/>
          <p:nvPr/>
        </p:nvSpPr>
        <p:spPr>
          <a:xfrm>
            <a:off x="606147" y="6927056"/>
            <a:ext cx="7931706" cy="554355"/>
          </a:xfrm>
          <a:prstGeom prst="rect">
            <a:avLst/>
          </a:prstGeom>
          <a:noFill/>
          <a:ln>
            <a:noFill/>
          </a:ln>
        </p:spPr>
        <p:txBody>
          <a:bodyPr spcFirstLastPara="1" wrap="square" lIns="0" tIns="0" rIns="0" bIns="0" anchor="t" anchorCtr="0">
            <a:noAutofit/>
          </a:bodyPr>
          <a:lstStyle/>
          <a:p>
            <a:pPr marL="0" marR="0" lvl="0" indent="0" algn="l" rtl="0">
              <a:lnSpc>
                <a:spcPct val="159000"/>
              </a:lnSpc>
              <a:spcBef>
                <a:spcPts val="0"/>
              </a:spcBef>
              <a:spcAft>
                <a:spcPts val="0"/>
              </a:spcAft>
              <a:buClr>
                <a:srgbClr val="DCD7E5"/>
              </a:buClr>
              <a:buSzPts val="1350"/>
              <a:buFont typeface="Heebo"/>
              <a:buNone/>
            </a:pPr>
            <a:r>
              <a:rPr lang="en-US" sz="1350" b="0" i="0" u="none" strike="noStrike" cap="none">
                <a:solidFill>
                  <a:srgbClr val="DCD7E5"/>
                </a:solidFill>
                <a:latin typeface="Heebo"/>
                <a:ea typeface="Heebo"/>
                <a:cs typeface="Heebo"/>
                <a:sym typeface="Heebo"/>
              </a:rPr>
              <a:t>Azure DevOps pipelines automate the build, test, and deployment processes, ensuring consistent delivery of new features and bug fixes while maintaining high quality standards.</a:t>
            </a:r>
            <a:endParaRPr sz="1350" b="0" i="0" u="none" strike="noStrike" cap="non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98" name="Shape 198"/>
        <p:cNvGrpSpPr/>
        <p:nvPr/>
      </p:nvGrpSpPr>
      <p:grpSpPr>
        <a:xfrm>
          <a:off x="0" y="0"/>
          <a:ext cx="0" cy="0"/>
          <a:chOff x="0" y="0"/>
          <a:chExt cx="0" cy="0"/>
        </a:xfrm>
      </p:grpSpPr>
      <p:sp>
        <p:nvSpPr>
          <p:cNvPr id="199" name="Google Shape;199;p23"/>
          <p:cNvSpPr/>
          <p:nvPr/>
        </p:nvSpPr>
        <p:spPr>
          <a:xfrm>
            <a:off x="575548" y="452199"/>
            <a:ext cx="8795504" cy="513874"/>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2F0F4"/>
              </a:buClr>
              <a:buSzPts val="3200"/>
              <a:buFont typeface="Montserrat" panose="00000500000000000000"/>
              <a:buNone/>
            </a:pPr>
            <a:r>
              <a:rPr lang="en-US" sz="3200" b="1" i="0" u="none" strike="noStrike" cap="none">
                <a:solidFill>
                  <a:srgbClr val="F2F0F4"/>
                </a:solidFill>
                <a:latin typeface="Montserrat" panose="00000500000000000000"/>
                <a:ea typeface="Montserrat" panose="00000500000000000000"/>
                <a:cs typeface="Montserrat" panose="00000500000000000000"/>
                <a:sym typeface="Montserrat" panose="00000500000000000000"/>
              </a:rPr>
              <a:t>Terraform Configuration – Key Highlights</a:t>
            </a:r>
            <a:endParaRPr sz="3200" b="0" i="0" u="none" strike="noStrike" cap="none"/>
          </a:p>
        </p:txBody>
      </p:sp>
      <p:sp>
        <p:nvSpPr>
          <p:cNvPr id="200" name="Google Shape;200;p23"/>
          <p:cNvSpPr/>
          <p:nvPr/>
        </p:nvSpPr>
        <p:spPr>
          <a:xfrm>
            <a:off x="575548" y="1479828"/>
            <a:ext cx="369927" cy="369927"/>
          </a:xfrm>
          <a:prstGeom prst="roundRect">
            <a:avLst>
              <a:gd name="adj" fmla="val 18671"/>
            </a:avLst>
          </a:prstGeom>
          <a:solidFill>
            <a:srgbClr val="31136C"/>
          </a:solidFill>
          <a:ln w="9525" cap="flat" cmpd="sng">
            <a:solidFill>
              <a:srgbClr val="4A2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201" name="Google Shape;201;p23" descr="preencoded.png"/>
          <p:cNvPicPr preferRelativeResize="0"/>
          <p:nvPr/>
        </p:nvPicPr>
        <p:blipFill rotWithShape="1">
          <a:blip r:embed="rId1"/>
          <a:srcRect/>
          <a:stretch>
            <a:fillRect/>
          </a:stretch>
        </p:blipFill>
        <p:spPr>
          <a:xfrm>
            <a:off x="637163" y="1510605"/>
            <a:ext cx="246578" cy="308253"/>
          </a:xfrm>
          <a:prstGeom prst="rect">
            <a:avLst/>
          </a:prstGeom>
          <a:noFill/>
          <a:ln>
            <a:noFill/>
          </a:ln>
        </p:spPr>
      </p:pic>
      <p:sp>
        <p:nvSpPr>
          <p:cNvPr id="202" name="Google Shape;202;p23"/>
          <p:cNvSpPr/>
          <p:nvPr/>
        </p:nvSpPr>
        <p:spPr>
          <a:xfrm>
            <a:off x="1109901" y="1479828"/>
            <a:ext cx="2584490" cy="256937"/>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DCD7E5"/>
              </a:buClr>
              <a:buSzPts val="1600"/>
              <a:buFont typeface="Montserrat" panose="00000500000000000000"/>
              <a:buNone/>
            </a:pPr>
            <a:r>
              <a:rPr lang="en-US" sz="160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Resource Group Creation</a:t>
            </a:r>
            <a:endParaRPr sz="1600" b="0" i="0" u="none" strike="noStrike" cap="none"/>
          </a:p>
        </p:txBody>
      </p:sp>
      <p:sp>
        <p:nvSpPr>
          <p:cNvPr id="203" name="Google Shape;203;p23"/>
          <p:cNvSpPr/>
          <p:nvPr/>
        </p:nvSpPr>
        <p:spPr>
          <a:xfrm>
            <a:off x="1109901" y="1835348"/>
            <a:ext cx="6123146" cy="263009"/>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DCD7E5"/>
              </a:buClr>
              <a:buSzPts val="1250"/>
              <a:buFont typeface="Heebo"/>
              <a:buNone/>
            </a:pPr>
            <a:r>
              <a:rPr lang="en-US" sz="1250" b="0" i="0" u="none" strike="noStrike" cap="none">
                <a:solidFill>
                  <a:srgbClr val="DCD7E5"/>
                </a:solidFill>
                <a:latin typeface="Heebo"/>
                <a:ea typeface="Heebo"/>
                <a:cs typeface="Heebo"/>
                <a:sym typeface="Heebo"/>
              </a:rPr>
              <a:t>Created Azure resource group named webapp-resource in Canada Central.</a:t>
            </a:r>
            <a:endParaRPr sz="1250" b="0" i="0" u="none" strike="noStrike" cap="none"/>
          </a:p>
        </p:txBody>
      </p:sp>
      <p:sp>
        <p:nvSpPr>
          <p:cNvPr id="204" name="Google Shape;204;p23"/>
          <p:cNvSpPr/>
          <p:nvPr/>
        </p:nvSpPr>
        <p:spPr>
          <a:xfrm>
            <a:off x="7397472" y="1479828"/>
            <a:ext cx="369927" cy="369927"/>
          </a:xfrm>
          <a:prstGeom prst="roundRect">
            <a:avLst>
              <a:gd name="adj" fmla="val 18671"/>
            </a:avLst>
          </a:prstGeom>
          <a:solidFill>
            <a:srgbClr val="31136C"/>
          </a:solidFill>
          <a:ln w="9525" cap="flat" cmpd="sng">
            <a:solidFill>
              <a:srgbClr val="4A2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205" name="Google Shape;205;p23" descr="preencoded.png"/>
          <p:cNvPicPr preferRelativeResize="0"/>
          <p:nvPr/>
        </p:nvPicPr>
        <p:blipFill rotWithShape="1">
          <a:blip r:embed="rId2"/>
          <a:srcRect/>
          <a:stretch>
            <a:fillRect/>
          </a:stretch>
        </p:blipFill>
        <p:spPr>
          <a:xfrm>
            <a:off x="7459087" y="1510605"/>
            <a:ext cx="246578" cy="308253"/>
          </a:xfrm>
          <a:prstGeom prst="rect">
            <a:avLst/>
          </a:prstGeom>
          <a:noFill/>
          <a:ln>
            <a:noFill/>
          </a:ln>
        </p:spPr>
      </p:pic>
      <p:sp>
        <p:nvSpPr>
          <p:cNvPr id="206" name="Google Shape;206;p23"/>
          <p:cNvSpPr/>
          <p:nvPr/>
        </p:nvSpPr>
        <p:spPr>
          <a:xfrm>
            <a:off x="7931825" y="1479828"/>
            <a:ext cx="4567118" cy="256937"/>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DCD7E5"/>
              </a:buClr>
              <a:buSzPts val="1600"/>
              <a:buFont typeface="Montserrat" panose="00000500000000000000"/>
              <a:buNone/>
            </a:pPr>
            <a:r>
              <a:rPr lang="en-US" sz="160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Azure Kubernetes Service (AKS) Provisioning</a:t>
            </a:r>
            <a:endParaRPr sz="1600" b="0" i="0" u="none" strike="noStrike" cap="none"/>
          </a:p>
        </p:txBody>
      </p:sp>
      <p:sp>
        <p:nvSpPr>
          <p:cNvPr id="207" name="Google Shape;207;p23"/>
          <p:cNvSpPr/>
          <p:nvPr/>
        </p:nvSpPr>
        <p:spPr>
          <a:xfrm>
            <a:off x="7931825" y="1835348"/>
            <a:ext cx="6123146" cy="263009"/>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DCD7E5"/>
              </a:buClr>
              <a:buSzPts val="1250"/>
              <a:buFont typeface="Heebo"/>
              <a:buNone/>
            </a:pPr>
            <a:r>
              <a:rPr lang="en-US" sz="1250" b="0" i="0" u="none" strike="noStrike" cap="none">
                <a:solidFill>
                  <a:srgbClr val="DCD7E5"/>
                </a:solidFill>
                <a:latin typeface="Heebo"/>
                <a:ea typeface="Heebo"/>
                <a:cs typeface="Heebo"/>
                <a:sym typeface="Heebo"/>
              </a:rPr>
              <a:t>Deployed an AKS cluster with:</a:t>
            </a:r>
            <a:endParaRPr sz="1250" b="0" i="0" u="none" strike="noStrike" cap="none"/>
          </a:p>
        </p:txBody>
      </p:sp>
      <p:sp>
        <p:nvSpPr>
          <p:cNvPr id="208" name="Google Shape;208;p23"/>
          <p:cNvSpPr/>
          <p:nvPr/>
        </p:nvSpPr>
        <p:spPr>
          <a:xfrm>
            <a:off x="7931825" y="2196941"/>
            <a:ext cx="6123146" cy="263009"/>
          </a:xfrm>
          <a:prstGeom prst="rect">
            <a:avLst/>
          </a:prstGeom>
          <a:noFill/>
          <a:ln>
            <a:noFill/>
          </a:ln>
        </p:spPr>
        <p:txBody>
          <a:bodyPr spcFirstLastPara="1" wrap="square" lIns="0" tIns="0" rIns="0" bIns="0" anchor="t" anchorCtr="0">
            <a:noAutofit/>
          </a:bodyPr>
          <a:lstStyle/>
          <a:p>
            <a:pPr marL="342900" marR="0" lvl="0" indent="-342900" algn="l" rtl="0">
              <a:lnSpc>
                <a:spcPct val="164000"/>
              </a:lnSpc>
              <a:spcBef>
                <a:spcPts val="0"/>
              </a:spcBef>
              <a:spcAft>
                <a:spcPts val="0"/>
              </a:spcAft>
              <a:buClr>
                <a:srgbClr val="DCD7E5"/>
              </a:buClr>
              <a:buSzPts val="1250"/>
              <a:buFont typeface="Heebo"/>
              <a:buChar char="•"/>
            </a:pPr>
            <a:r>
              <a:rPr lang="en-US" sz="1250" b="0" i="0" u="none" strike="noStrike" cap="none">
                <a:solidFill>
                  <a:srgbClr val="DCD7E5"/>
                </a:solidFill>
                <a:latin typeface="Heebo"/>
                <a:ea typeface="Heebo"/>
                <a:cs typeface="Heebo"/>
                <a:sym typeface="Heebo"/>
              </a:rPr>
              <a:t>1 node (Standard\_D4ds\_v5 - 4 vCPUs, 16 GB RAM).</a:t>
            </a:r>
            <a:endParaRPr sz="1250" b="0" i="0" u="none" strike="noStrike" cap="none"/>
          </a:p>
        </p:txBody>
      </p:sp>
      <p:sp>
        <p:nvSpPr>
          <p:cNvPr id="209" name="Google Shape;209;p23"/>
          <p:cNvSpPr/>
          <p:nvPr/>
        </p:nvSpPr>
        <p:spPr>
          <a:xfrm>
            <a:off x="7931825" y="2517458"/>
            <a:ext cx="6123146" cy="263009"/>
          </a:xfrm>
          <a:prstGeom prst="rect">
            <a:avLst/>
          </a:prstGeom>
          <a:noFill/>
          <a:ln>
            <a:noFill/>
          </a:ln>
        </p:spPr>
        <p:txBody>
          <a:bodyPr spcFirstLastPara="1" wrap="square" lIns="0" tIns="0" rIns="0" bIns="0" anchor="t" anchorCtr="0">
            <a:noAutofit/>
          </a:bodyPr>
          <a:lstStyle/>
          <a:p>
            <a:pPr marL="342900" marR="0" lvl="0" indent="-342900" algn="l" rtl="0">
              <a:lnSpc>
                <a:spcPct val="164000"/>
              </a:lnSpc>
              <a:spcBef>
                <a:spcPts val="0"/>
              </a:spcBef>
              <a:spcAft>
                <a:spcPts val="0"/>
              </a:spcAft>
              <a:buClr>
                <a:srgbClr val="DCD7E5"/>
              </a:buClr>
              <a:buSzPts val="1250"/>
              <a:buFont typeface="Heebo"/>
              <a:buChar char="•"/>
            </a:pPr>
            <a:r>
              <a:rPr lang="en-US" sz="1250" b="0" i="0" u="none" strike="noStrike" cap="none">
                <a:solidFill>
                  <a:srgbClr val="DCD7E5"/>
                </a:solidFill>
                <a:latin typeface="Heebo"/>
                <a:ea typeface="Heebo"/>
                <a:cs typeface="Heebo"/>
                <a:sym typeface="Heebo"/>
              </a:rPr>
              <a:t>System-assigned managed identity.</a:t>
            </a:r>
            <a:endParaRPr sz="1250" b="0" i="0" u="none" strike="noStrike" cap="none"/>
          </a:p>
        </p:txBody>
      </p:sp>
      <p:sp>
        <p:nvSpPr>
          <p:cNvPr id="210" name="Google Shape;210;p23"/>
          <p:cNvSpPr/>
          <p:nvPr/>
        </p:nvSpPr>
        <p:spPr>
          <a:xfrm>
            <a:off x="7931825" y="2837974"/>
            <a:ext cx="6123146" cy="263009"/>
          </a:xfrm>
          <a:prstGeom prst="rect">
            <a:avLst/>
          </a:prstGeom>
          <a:noFill/>
          <a:ln>
            <a:noFill/>
          </a:ln>
        </p:spPr>
        <p:txBody>
          <a:bodyPr spcFirstLastPara="1" wrap="square" lIns="0" tIns="0" rIns="0" bIns="0" anchor="t" anchorCtr="0">
            <a:noAutofit/>
          </a:bodyPr>
          <a:lstStyle/>
          <a:p>
            <a:pPr marL="342900" marR="0" lvl="0" indent="-342900" algn="l" rtl="0">
              <a:lnSpc>
                <a:spcPct val="164000"/>
              </a:lnSpc>
              <a:spcBef>
                <a:spcPts val="0"/>
              </a:spcBef>
              <a:spcAft>
                <a:spcPts val="0"/>
              </a:spcAft>
              <a:buClr>
                <a:srgbClr val="DCD7E5"/>
              </a:buClr>
              <a:buSzPts val="1250"/>
              <a:buFont typeface="Heebo"/>
              <a:buChar char="•"/>
            </a:pPr>
            <a:r>
              <a:rPr lang="en-US" sz="1250" b="0" i="0" u="none" strike="noStrike" cap="none">
                <a:solidFill>
                  <a:srgbClr val="DCD7E5"/>
                </a:solidFill>
                <a:latin typeface="Heebo"/>
                <a:ea typeface="Heebo"/>
                <a:cs typeface="Heebo"/>
                <a:sym typeface="Heebo"/>
              </a:rPr>
              <a:t>DNS prefix for AKS configured.</a:t>
            </a:r>
            <a:endParaRPr sz="1250" b="0" i="0" u="none" strike="noStrike" cap="none"/>
          </a:p>
        </p:txBody>
      </p:sp>
      <p:sp>
        <p:nvSpPr>
          <p:cNvPr id="211" name="Google Shape;211;p23"/>
          <p:cNvSpPr/>
          <p:nvPr/>
        </p:nvSpPr>
        <p:spPr>
          <a:xfrm>
            <a:off x="575548" y="3450312"/>
            <a:ext cx="369927" cy="369927"/>
          </a:xfrm>
          <a:prstGeom prst="roundRect">
            <a:avLst>
              <a:gd name="adj" fmla="val 18671"/>
            </a:avLst>
          </a:prstGeom>
          <a:solidFill>
            <a:srgbClr val="31136C"/>
          </a:solidFill>
          <a:ln w="9525" cap="flat" cmpd="sng">
            <a:solidFill>
              <a:srgbClr val="4A2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212" name="Google Shape;212;p23" descr="preencoded.png"/>
          <p:cNvPicPr preferRelativeResize="0"/>
          <p:nvPr/>
        </p:nvPicPr>
        <p:blipFill rotWithShape="1">
          <a:blip r:embed="rId3"/>
          <a:srcRect/>
          <a:stretch>
            <a:fillRect/>
          </a:stretch>
        </p:blipFill>
        <p:spPr>
          <a:xfrm>
            <a:off x="637163" y="3481090"/>
            <a:ext cx="246578" cy="308253"/>
          </a:xfrm>
          <a:prstGeom prst="rect">
            <a:avLst/>
          </a:prstGeom>
          <a:noFill/>
          <a:ln>
            <a:noFill/>
          </a:ln>
        </p:spPr>
      </p:pic>
      <p:sp>
        <p:nvSpPr>
          <p:cNvPr id="213" name="Google Shape;213;p23"/>
          <p:cNvSpPr/>
          <p:nvPr/>
        </p:nvSpPr>
        <p:spPr>
          <a:xfrm>
            <a:off x="1109901" y="3450312"/>
            <a:ext cx="3574375" cy="256937"/>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DCD7E5"/>
              </a:buClr>
              <a:buSzPts val="1600"/>
              <a:buFont typeface="Montserrat" panose="00000500000000000000"/>
              <a:buNone/>
            </a:pPr>
            <a:r>
              <a:rPr lang="en-US" sz="160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Kubernetes Provider Configuration</a:t>
            </a:r>
            <a:endParaRPr sz="1600" b="0" i="0" u="none" strike="noStrike" cap="none"/>
          </a:p>
        </p:txBody>
      </p:sp>
      <p:sp>
        <p:nvSpPr>
          <p:cNvPr id="214" name="Google Shape;214;p23"/>
          <p:cNvSpPr/>
          <p:nvPr/>
        </p:nvSpPr>
        <p:spPr>
          <a:xfrm>
            <a:off x="1109901" y="3805833"/>
            <a:ext cx="6123146" cy="526018"/>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DCD7E5"/>
              </a:buClr>
              <a:buSzPts val="1250"/>
              <a:buFont typeface="Heebo"/>
              <a:buNone/>
            </a:pPr>
            <a:r>
              <a:rPr lang="en-US" sz="1250" b="0" i="0" u="none" strike="noStrike" cap="none">
                <a:solidFill>
                  <a:srgbClr val="DCD7E5"/>
                </a:solidFill>
                <a:latin typeface="Heebo"/>
                <a:ea typeface="Heebo"/>
                <a:cs typeface="Heebo"/>
                <a:sym typeface="Heebo"/>
              </a:rPr>
              <a:t>Kubernetes provider dynamically configured using AKS credentials. Kubeconfig written to local file for CLI access.</a:t>
            </a:r>
            <a:endParaRPr sz="1250" b="0" i="0" u="none" strike="noStrike" cap="none"/>
          </a:p>
        </p:txBody>
      </p:sp>
      <p:sp>
        <p:nvSpPr>
          <p:cNvPr id="215" name="Google Shape;215;p23"/>
          <p:cNvSpPr/>
          <p:nvPr/>
        </p:nvSpPr>
        <p:spPr>
          <a:xfrm>
            <a:off x="7397472" y="3450312"/>
            <a:ext cx="369927" cy="369927"/>
          </a:xfrm>
          <a:prstGeom prst="roundRect">
            <a:avLst>
              <a:gd name="adj" fmla="val 18671"/>
            </a:avLst>
          </a:prstGeom>
          <a:solidFill>
            <a:srgbClr val="31136C"/>
          </a:solidFill>
          <a:ln w="9525" cap="flat" cmpd="sng">
            <a:solidFill>
              <a:srgbClr val="4A2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216" name="Google Shape;216;p23" descr="preencoded.png"/>
          <p:cNvPicPr preferRelativeResize="0"/>
          <p:nvPr/>
        </p:nvPicPr>
        <p:blipFill rotWithShape="1">
          <a:blip r:embed="rId3"/>
          <a:srcRect/>
          <a:stretch>
            <a:fillRect/>
          </a:stretch>
        </p:blipFill>
        <p:spPr>
          <a:xfrm>
            <a:off x="7459087" y="3481090"/>
            <a:ext cx="246578" cy="308253"/>
          </a:xfrm>
          <a:prstGeom prst="rect">
            <a:avLst/>
          </a:prstGeom>
          <a:noFill/>
          <a:ln>
            <a:noFill/>
          </a:ln>
        </p:spPr>
      </p:pic>
      <p:sp>
        <p:nvSpPr>
          <p:cNvPr id="217" name="Google Shape;217;p23"/>
          <p:cNvSpPr/>
          <p:nvPr/>
        </p:nvSpPr>
        <p:spPr>
          <a:xfrm>
            <a:off x="7931825" y="3450312"/>
            <a:ext cx="2151102" cy="256937"/>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DCD7E5"/>
              </a:buClr>
              <a:buSzPts val="1600"/>
              <a:buFont typeface="Montserrat" panose="00000500000000000000"/>
              <a:buNone/>
            </a:pPr>
            <a:r>
              <a:rPr lang="en-US" sz="160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NGINX Ingress Setup</a:t>
            </a:r>
            <a:endParaRPr sz="1600" b="0" i="0" u="none" strike="noStrike" cap="none"/>
          </a:p>
        </p:txBody>
      </p:sp>
      <p:sp>
        <p:nvSpPr>
          <p:cNvPr id="218" name="Google Shape;218;p23"/>
          <p:cNvSpPr/>
          <p:nvPr/>
        </p:nvSpPr>
        <p:spPr>
          <a:xfrm>
            <a:off x="7931825" y="3805833"/>
            <a:ext cx="6123146" cy="526018"/>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DCD7E5"/>
              </a:buClr>
              <a:buSzPts val="1250"/>
              <a:buFont typeface="Heebo"/>
              <a:buNone/>
            </a:pPr>
            <a:r>
              <a:rPr lang="en-US" sz="1250" b="0" i="0" u="none" strike="noStrike" cap="none">
                <a:solidFill>
                  <a:srgbClr val="DCD7E5"/>
                </a:solidFill>
                <a:latin typeface="Heebo"/>
                <a:ea typeface="Heebo"/>
                <a:cs typeface="Heebo"/>
                <a:sym typeface="Heebo"/>
              </a:rPr>
              <a:t>Applied NGINX Ingress Controller via kubectl. Scripted wait logic to ensure Ingress Controller is ready before proceeding.</a:t>
            </a:r>
            <a:endParaRPr sz="1250" b="0" i="0" u="none" strike="noStrike" cap="none"/>
          </a:p>
        </p:txBody>
      </p:sp>
      <p:sp>
        <p:nvSpPr>
          <p:cNvPr id="219" name="Google Shape;219;p23"/>
          <p:cNvSpPr/>
          <p:nvPr/>
        </p:nvSpPr>
        <p:spPr>
          <a:xfrm>
            <a:off x="575548" y="4681180"/>
            <a:ext cx="369927" cy="369927"/>
          </a:xfrm>
          <a:prstGeom prst="roundRect">
            <a:avLst>
              <a:gd name="adj" fmla="val 18671"/>
            </a:avLst>
          </a:prstGeom>
          <a:solidFill>
            <a:srgbClr val="31136C"/>
          </a:solidFill>
          <a:ln w="9525" cap="flat" cmpd="sng">
            <a:solidFill>
              <a:srgbClr val="4A2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220" name="Google Shape;220;p23" descr="preencoded.png"/>
          <p:cNvPicPr preferRelativeResize="0"/>
          <p:nvPr/>
        </p:nvPicPr>
        <p:blipFill rotWithShape="1">
          <a:blip r:embed="rId4"/>
          <a:srcRect/>
          <a:stretch>
            <a:fillRect/>
          </a:stretch>
        </p:blipFill>
        <p:spPr>
          <a:xfrm>
            <a:off x="637163" y="4711958"/>
            <a:ext cx="246578" cy="308253"/>
          </a:xfrm>
          <a:prstGeom prst="rect">
            <a:avLst/>
          </a:prstGeom>
          <a:noFill/>
          <a:ln>
            <a:noFill/>
          </a:ln>
        </p:spPr>
      </p:pic>
      <p:sp>
        <p:nvSpPr>
          <p:cNvPr id="221" name="Google Shape;221;p23"/>
          <p:cNvSpPr/>
          <p:nvPr/>
        </p:nvSpPr>
        <p:spPr>
          <a:xfrm>
            <a:off x="1109901" y="4681180"/>
            <a:ext cx="2785229" cy="256937"/>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DCD7E5"/>
              </a:buClr>
              <a:buSzPts val="1600"/>
              <a:buFont typeface="Montserrat" panose="00000500000000000000"/>
              <a:buNone/>
            </a:pPr>
            <a:r>
              <a:rPr lang="en-US" sz="160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Ollama Model Deployment</a:t>
            </a:r>
            <a:endParaRPr sz="1600" b="0" i="0" u="none" strike="noStrike" cap="none"/>
          </a:p>
        </p:txBody>
      </p:sp>
      <p:sp>
        <p:nvSpPr>
          <p:cNvPr id="222" name="Google Shape;222;p23"/>
          <p:cNvSpPr/>
          <p:nvPr/>
        </p:nvSpPr>
        <p:spPr>
          <a:xfrm>
            <a:off x="1109901" y="5036701"/>
            <a:ext cx="6123146" cy="263009"/>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DCD7E5"/>
              </a:buClr>
              <a:buSzPts val="1250"/>
              <a:buFont typeface="Heebo"/>
              <a:buNone/>
            </a:pPr>
            <a:r>
              <a:rPr lang="en-US" sz="1250" b="0" i="0" u="none" strike="noStrike" cap="none">
                <a:solidFill>
                  <a:srgbClr val="DCD7E5"/>
                </a:solidFill>
                <a:latin typeface="Heebo"/>
                <a:ea typeface="Heebo"/>
                <a:cs typeface="Heebo"/>
                <a:sym typeface="Heebo"/>
              </a:rPr>
              <a:t>Deployed a containerized LLaMA 3.2–1B model:</a:t>
            </a:r>
            <a:endParaRPr sz="1250" b="0" i="0" u="none" strike="noStrike" cap="none"/>
          </a:p>
        </p:txBody>
      </p:sp>
      <p:sp>
        <p:nvSpPr>
          <p:cNvPr id="223" name="Google Shape;223;p23"/>
          <p:cNvSpPr/>
          <p:nvPr/>
        </p:nvSpPr>
        <p:spPr>
          <a:xfrm>
            <a:off x="1109901" y="5398294"/>
            <a:ext cx="6123146" cy="263009"/>
          </a:xfrm>
          <a:prstGeom prst="rect">
            <a:avLst/>
          </a:prstGeom>
          <a:noFill/>
          <a:ln>
            <a:noFill/>
          </a:ln>
        </p:spPr>
        <p:txBody>
          <a:bodyPr spcFirstLastPara="1" wrap="square" lIns="0" tIns="0" rIns="0" bIns="0" anchor="t" anchorCtr="0">
            <a:noAutofit/>
          </a:bodyPr>
          <a:lstStyle/>
          <a:p>
            <a:pPr marL="342900" marR="0" lvl="0" indent="-342900" algn="l" rtl="0">
              <a:lnSpc>
                <a:spcPct val="164000"/>
              </a:lnSpc>
              <a:spcBef>
                <a:spcPts val="0"/>
              </a:spcBef>
              <a:spcAft>
                <a:spcPts val="0"/>
              </a:spcAft>
              <a:buClr>
                <a:srgbClr val="DCD7E5"/>
              </a:buClr>
              <a:buSzPts val="1250"/>
              <a:buFont typeface="Heebo"/>
              <a:buChar char="•"/>
            </a:pPr>
            <a:r>
              <a:rPr lang="en-US" sz="1250" b="0" i="0" u="none" strike="noStrike" cap="none">
                <a:solidFill>
                  <a:srgbClr val="DCD7E5"/>
                </a:solidFill>
                <a:latin typeface="Heebo"/>
                <a:ea typeface="Heebo"/>
                <a:cs typeface="Heebo"/>
                <a:sym typeface="Heebo"/>
              </a:rPr>
              <a:t>Exposed via ClusterIP service.</a:t>
            </a:r>
            <a:endParaRPr sz="1250" b="0" i="0" u="none" strike="noStrike" cap="none"/>
          </a:p>
        </p:txBody>
      </p:sp>
      <p:sp>
        <p:nvSpPr>
          <p:cNvPr id="224" name="Google Shape;224;p23"/>
          <p:cNvSpPr/>
          <p:nvPr/>
        </p:nvSpPr>
        <p:spPr>
          <a:xfrm>
            <a:off x="1109901" y="5718810"/>
            <a:ext cx="6123146" cy="263009"/>
          </a:xfrm>
          <a:prstGeom prst="rect">
            <a:avLst/>
          </a:prstGeom>
          <a:noFill/>
          <a:ln>
            <a:noFill/>
          </a:ln>
        </p:spPr>
        <p:txBody>
          <a:bodyPr spcFirstLastPara="1" wrap="square" lIns="0" tIns="0" rIns="0" bIns="0" anchor="t" anchorCtr="0">
            <a:noAutofit/>
          </a:bodyPr>
          <a:lstStyle/>
          <a:p>
            <a:pPr marL="342900" marR="0" lvl="0" indent="-342900" algn="l" rtl="0">
              <a:lnSpc>
                <a:spcPct val="164000"/>
              </a:lnSpc>
              <a:spcBef>
                <a:spcPts val="0"/>
              </a:spcBef>
              <a:spcAft>
                <a:spcPts val="0"/>
              </a:spcAft>
              <a:buClr>
                <a:srgbClr val="DCD7E5"/>
              </a:buClr>
              <a:buSzPts val="1250"/>
              <a:buFont typeface="Heebo"/>
              <a:buChar char="•"/>
            </a:pPr>
            <a:r>
              <a:rPr lang="en-US" sz="1250" b="0" i="0" u="none" strike="noStrike" cap="none">
                <a:solidFill>
                  <a:srgbClr val="DCD7E5"/>
                </a:solidFill>
                <a:latin typeface="Heebo"/>
                <a:ea typeface="Heebo"/>
                <a:cs typeface="Heebo"/>
                <a:sym typeface="Heebo"/>
              </a:rPr>
              <a:t>Resource requests/limits optimized (5–6Gi RAM, 2 CPU).</a:t>
            </a:r>
            <a:endParaRPr sz="1250" b="0" i="0" u="none" strike="noStrike" cap="none"/>
          </a:p>
        </p:txBody>
      </p:sp>
      <p:sp>
        <p:nvSpPr>
          <p:cNvPr id="225" name="Google Shape;225;p23"/>
          <p:cNvSpPr/>
          <p:nvPr/>
        </p:nvSpPr>
        <p:spPr>
          <a:xfrm>
            <a:off x="1109901" y="6039326"/>
            <a:ext cx="6123146" cy="263009"/>
          </a:xfrm>
          <a:prstGeom prst="rect">
            <a:avLst/>
          </a:prstGeom>
          <a:noFill/>
          <a:ln>
            <a:noFill/>
          </a:ln>
        </p:spPr>
        <p:txBody>
          <a:bodyPr spcFirstLastPara="1" wrap="square" lIns="0" tIns="0" rIns="0" bIns="0" anchor="t" anchorCtr="0">
            <a:noAutofit/>
          </a:bodyPr>
          <a:lstStyle/>
          <a:p>
            <a:pPr marL="342900" marR="0" lvl="0" indent="-342900" algn="l" rtl="0">
              <a:lnSpc>
                <a:spcPct val="164000"/>
              </a:lnSpc>
              <a:spcBef>
                <a:spcPts val="0"/>
              </a:spcBef>
              <a:spcAft>
                <a:spcPts val="0"/>
              </a:spcAft>
              <a:buClr>
                <a:srgbClr val="DCD7E5"/>
              </a:buClr>
              <a:buSzPts val="1250"/>
              <a:buFont typeface="Heebo"/>
              <a:buChar char="•"/>
            </a:pPr>
            <a:r>
              <a:rPr lang="en-US" sz="1250" b="0" i="0" u="none" strike="noStrike" cap="none">
                <a:solidFill>
                  <a:srgbClr val="DCD7E5"/>
                </a:solidFill>
                <a:latin typeface="Heebo"/>
                <a:ea typeface="Heebo"/>
                <a:cs typeface="Heebo"/>
                <a:sym typeface="Heebo"/>
              </a:rPr>
              <a:t>Integrated health check with readiness probe.</a:t>
            </a:r>
            <a:endParaRPr sz="1250" b="0" i="0" u="none" strike="noStrike" cap="none"/>
          </a:p>
        </p:txBody>
      </p:sp>
      <p:sp>
        <p:nvSpPr>
          <p:cNvPr id="226" name="Google Shape;226;p23"/>
          <p:cNvSpPr/>
          <p:nvPr/>
        </p:nvSpPr>
        <p:spPr>
          <a:xfrm>
            <a:off x="7397472" y="4681180"/>
            <a:ext cx="369927" cy="369927"/>
          </a:xfrm>
          <a:prstGeom prst="roundRect">
            <a:avLst>
              <a:gd name="adj" fmla="val 18671"/>
            </a:avLst>
          </a:prstGeom>
          <a:solidFill>
            <a:srgbClr val="31136C"/>
          </a:solidFill>
          <a:ln w="9525" cap="flat" cmpd="sng">
            <a:solidFill>
              <a:srgbClr val="4A2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227" name="Google Shape;227;p23" descr="preencoded.png"/>
          <p:cNvPicPr preferRelativeResize="0"/>
          <p:nvPr/>
        </p:nvPicPr>
        <p:blipFill rotWithShape="1">
          <a:blip r:embed="rId5"/>
          <a:srcRect/>
          <a:stretch>
            <a:fillRect/>
          </a:stretch>
        </p:blipFill>
        <p:spPr>
          <a:xfrm>
            <a:off x="7459087" y="4711958"/>
            <a:ext cx="246578" cy="308253"/>
          </a:xfrm>
          <a:prstGeom prst="rect">
            <a:avLst/>
          </a:prstGeom>
          <a:noFill/>
          <a:ln>
            <a:noFill/>
          </a:ln>
        </p:spPr>
      </p:pic>
      <p:sp>
        <p:nvSpPr>
          <p:cNvPr id="228" name="Google Shape;228;p23"/>
          <p:cNvSpPr/>
          <p:nvPr/>
        </p:nvSpPr>
        <p:spPr>
          <a:xfrm>
            <a:off x="7931825" y="4681180"/>
            <a:ext cx="3225760" cy="256937"/>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DCD7E5"/>
              </a:buClr>
              <a:buSzPts val="1600"/>
              <a:buFont typeface="Montserrat" panose="00000500000000000000"/>
              <a:buNone/>
            </a:pPr>
            <a:r>
              <a:rPr lang="en-US" sz="160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Backend (FastAPI) Deployment</a:t>
            </a:r>
            <a:endParaRPr sz="1600" b="0" i="0" u="none" strike="noStrike" cap="none"/>
          </a:p>
        </p:txBody>
      </p:sp>
      <p:sp>
        <p:nvSpPr>
          <p:cNvPr id="229" name="Google Shape;229;p23"/>
          <p:cNvSpPr/>
          <p:nvPr/>
        </p:nvSpPr>
        <p:spPr>
          <a:xfrm>
            <a:off x="7931825" y="5036701"/>
            <a:ext cx="6123146" cy="263009"/>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DCD7E5"/>
              </a:buClr>
              <a:buSzPts val="1250"/>
              <a:buFont typeface="Heebo"/>
              <a:buNone/>
            </a:pPr>
            <a:r>
              <a:rPr lang="en-US" sz="1250" b="0" i="0" u="none" strike="noStrike" cap="none">
                <a:solidFill>
                  <a:srgbClr val="DCD7E5"/>
                </a:solidFill>
                <a:latin typeface="Heebo"/>
                <a:ea typeface="Heebo"/>
                <a:cs typeface="Heebo"/>
                <a:sym typeface="Heebo"/>
              </a:rPr>
              <a:t>Backend service handles AI queries:</a:t>
            </a:r>
            <a:endParaRPr sz="1250" b="0" i="0" u="none" strike="noStrike" cap="none"/>
          </a:p>
        </p:txBody>
      </p:sp>
      <p:sp>
        <p:nvSpPr>
          <p:cNvPr id="230" name="Google Shape;230;p23"/>
          <p:cNvSpPr/>
          <p:nvPr/>
        </p:nvSpPr>
        <p:spPr>
          <a:xfrm>
            <a:off x="7931825" y="5398294"/>
            <a:ext cx="6123146" cy="263009"/>
          </a:xfrm>
          <a:prstGeom prst="rect">
            <a:avLst/>
          </a:prstGeom>
          <a:noFill/>
          <a:ln>
            <a:noFill/>
          </a:ln>
        </p:spPr>
        <p:txBody>
          <a:bodyPr spcFirstLastPara="1" wrap="square" lIns="0" tIns="0" rIns="0" bIns="0" anchor="t" anchorCtr="0">
            <a:noAutofit/>
          </a:bodyPr>
          <a:lstStyle/>
          <a:p>
            <a:pPr marL="342900" marR="0" lvl="0" indent="-342900" algn="l" rtl="0">
              <a:lnSpc>
                <a:spcPct val="164000"/>
              </a:lnSpc>
              <a:spcBef>
                <a:spcPts val="0"/>
              </a:spcBef>
              <a:spcAft>
                <a:spcPts val="0"/>
              </a:spcAft>
              <a:buClr>
                <a:srgbClr val="DCD7E5"/>
              </a:buClr>
              <a:buSzPts val="1250"/>
              <a:buFont typeface="Heebo"/>
              <a:buChar char="•"/>
            </a:pPr>
            <a:r>
              <a:rPr lang="en-US" sz="1250" b="0" i="0" u="none" strike="noStrike" cap="none">
                <a:solidFill>
                  <a:srgbClr val="DCD7E5"/>
                </a:solidFill>
                <a:latin typeface="Heebo"/>
                <a:ea typeface="Heebo"/>
                <a:cs typeface="Heebo"/>
                <a:sym typeface="Heebo"/>
              </a:rPr>
              <a:t>Uses Ollama API endpoint.</a:t>
            </a:r>
            <a:endParaRPr sz="1250" b="0" i="0" u="none" strike="noStrike" cap="none"/>
          </a:p>
        </p:txBody>
      </p:sp>
      <p:sp>
        <p:nvSpPr>
          <p:cNvPr id="231" name="Google Shape;231;p23"/>
          <p:cNvSpPr/>
          <p:nvPr/>
        </p:nvSpPr>
        <p:spPr>
          <a:xfrm>
            <a:off x="7931825" y="5718810"/>
            <a:ext cx="6123146" cy="263009"/>
          </a:xfrm>
          <a:prstGeom prst="rect">
            <a:avLst/>
          </a:prstGeom>
          <a:noFill/>
          <a:ln>
            <a:noFill/>
          </a:ln>
        </p:spPr>
        <p:txBody>
          <a:bodyPr spcFirstLastPara="1" wrap="square" lIns="0" tIns="0" rIns="0" bIns="0" anchor="t" anchorCtr="0">
            <a:noAutofit/>
          </a:bodyPr>
          <a:lstStyle/>
          <a:p>
            <a:pPr marL="342900" marR="0" lvl="0" indent="-342900" algn="l" rtl="0">
              <a:lnSpc>
                <a:spcPct val="164000"/>
              </a:lnSpc>
              <a:spcBef>
                <a:spcPts val="0"/>
              </a:spcBef>
              <a:spcAft>
                <a:spcPts val="0"/>
              </a:spcAft>
              <a:buClr>
                <a:srgbClr val="DCD7E5"/>
              </a:buClr>
              <a:buSzPts val="1250"/>
              <a:buFont typeface="Heebo"/>
              <a:buChar char="•"/>
            </a:pPr>
            <a:r>
              <a:rPr lang="en-US" sz="1250" b="0" i="0" u="none" strike="noStrike" cap="none">
                <a:solidFill>
                  <a:srgbClr val="DCD7E5"/>
                </a:solidFill>
                <a:latin typeface="Heebo"/>
                <a:ea typeface="Heebo"/>
                <a:cs typeface="Heebo"/>
                <a:sym typeface="Heebo"/>
              </a:rPr>
              <a:t>Exposed on port 8000 via ClusterIP service.</a:t>
            </a:r>
            <a:endParaRPr sz="1250" b="0" i="0" u="none" strike="noStrike" cap="none"/>
          </a:p>
        </p:txBody>
      </p:sp>
      <p:sp>
        <p:nvSpPr>
          <p:cNvPr id="232" name="Google Shape;232;p23"/>
          <p:cNvSpPr/>
          <p:nvPr/>
        </p:nvSpPr>
        <p:spPr>
          <a:xfrm>
            <a:off x="575548" y="6651665"/>
            <a:ext cx="369927" cy="369927"/>
          </a:xfrm>
          <a:prstGeom prst="roundRect">
            <a:avLst>
              <a:gd name="adj" fmla="val 18671"/>
            </a:avLst>
          </a:prstGeom>
          <a:solidFill>
            <a:srgbClr val="31136C"/>
          </a:solidFill>
          <a:ln w="9525" cap="flat" cmpd="sng">
            <a:solidFill>
              <a:srgbClr val="4A2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233" name="Google Shape;233;p23" descr="preencoded.png"/>
          <p:cNvPicPr preferRelativeResize="0"/>
          <p:nvPr/>
        </p:nvPicPr>
        <p:blipFill rotWithShape="1">
          <a:blip r:embed="rId2"/>
          <a:srcRect/>
          <a:stretch>
            <a:fillRect/>
          </a:stretch>
        </p:blipFill>
        <p:spPr>
          <a:xfrm>
            <a:off x="637163" y="6682442"/>
            <a:ext cx="246578" cy="308253"/>
          </a:xfrm>
          <a:prstGeom prst="rect">
            <a:avLst/>
          </a:prstGeom>
          <a:noFill/>
          <a:ln>
            <a:noFill/>
          </a:ln>
        </p:spPr>
      </p:pic>
      <p:sp>
        <p:nvSpPr>
          <p:cNvPr id="234" name="Google Shape;234;p23"/>
          <p:cNvSpPr/>
          <p:nvPr/>
        </p:nvSpPr>
        <p:spPr>
          <a:xfrm>
            <a:off x="1109901" y="6651665"/>
            <a:ext cx="2301478" cy="256937"/>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DCD7E5"/>
              </a:buClr>
              <a:buSzPts val="1600"/>
              <a:buFont typeface="Montserrat" panose="00000500000000000000"/>
              <a:buNone/>
            </a:pPr>
            <a:r>
              <a:rPr lang="en-US" sz="160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Frontend Deployment</a:t>
            </a:r>
            <a:endParaRPr sz="1600" b="0" i="0" u="none" strike="noStrike" cap="none"/>
          </a:p>
        </p:txBody>
      </p:sp>
      <p:sp>
        <p:nvSpPr>
          <p:cNvPr id="235" name="Google Shape;235;p23"/>
          <p:cNvSpPr/>
          <p:nvPr/>
        </p:nvSpPr>
        <p:spPr>
          <a:xfrm>
            <a:off x="1109901" y="7007185"/>
            <a:ext cx="6123146" cy="263009"/>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DCD7E5"/>
              </a:buClr>
              <a:buSzPts val="1250"/>
              <a:buFont typeface="Heebo"/>
              <a:buNone/>
            </a:pPr>
            <a:r>
              <a:rPr lang="en-US" sz="1250" b="0" i="0" u="none" strike="noStrike" cap="none">
                <a:solidFill>
                  <a:srgbClr val="DCD7E5"/>
                </a:solidFill>
                <a:latin typeface="Heebo"/>
                <a:ea typeface="Heebo"/>
                <a:cs typeface="Heebo"/>
                <a:sym typeface="Heebo"/>
              </a:rPr>
              <a:t>HTML/CSS/JS-based frontend:</a:t>
            </a:r>
            <a:endParaRPr sz="1250" b="0" i="0" u="none" strike="noStrike" cap="none"/>
          </a:p>
        </p:txBody>
      </p:sp>
      <p:sp>
        <p:nvSpPr>
          <p:cNvPr id="236" name="Google Shape;236;p23"/>
          <p:cNvSpPr/>
          <p:nvPr/>
        </p:nvSpPr>
        <p:spPr>
          <a:xfrm>
            <a:off x="1109901" y="7368778"/>
            <a:ext cx="6123146" cy="263009"/>
          </a:xfrm>
          <a:prstGeom prst="rect">
            <a:avLst/>
          </a:prstGeom>
          <a:noFill/>
          <a:ln>
            <a:noFill/>
          </a:ln>
        </p:spPr>
        <p:txBody>
          <a:bodyPr spcFirstLastPara="1" wrap="square" lIns="0" tIns="0" rIns="0" bIns="0" anchor="t" anchorCtr="0">
            <a:noAutofit/>
          </a:bodyPr>
          <a:lstStyle/>
          <a:p>
            <a:pPr marL="342900" marR="0" lvl="0" indent="-342900" algn="l" rtl="0">
              <a:lnSpc>
                <a:spcPct val="164000"/>
              </a:lnSpc>
              <a:spcBef>
                <a:spcPts val="0"/>
              </a:spcBef>
              <a:spcAft>
                <a:spcPts val="0"/>
              </a:spcAft>
              <a:buClr>
                <a:srgbClr val="DCD7E5"/>
              </a:buClr>
              <a:buSzPts val="1250"/>
              <a:buFont typeface="Heebo"/>
              <a:buChar char="•"/>
            </a:pPr>
            <a:r>
              <a:rPr lang="en-US" sz="1250" b="0" i="0" u="none" strike="noStrike" cap="none">
                <a:solidFill>
                  <a:srgbClr val="DCD7E5"/>
                </a:solidFill>
                <a:latin typeface="Heebo"/>
                <a:ea typeface="Heebo"/>
                <a:cs typeface="Heebo"/>
                <a:sym typeface="Heebo"/>
              </a:rPr>
              <a:t>Dockerized and deployed.</a:t>
            </a:r>
            <a:endParaRPr sz="1250" b="0" i="0" u="none" strike="noStrike" cap="none"/>
          </a:p>
        </p:txBody>
      </p:sp>
      <p:sp>
        <p:nvSpPr>
          <p:cNvPr id="237" name="Google Shape;237;p23"/>
          <p:cNvSpPr/>
          <p:nvPr/>
        </p:nvSpPr>
        <p:spPr>
          <a:xfrm>
            <a:off x="1109901" y="7689294"/>
            <a:ext cx="6123146" cy="263009"/>
          </a:xfrm>
          <a:prstGeom prst="rect">
            <a:avLst/>
          </a:prstGeom>
          <a:noFill/>
          <a:ln>
            <a:noFill/>
          </a:ln>
        </p:spPr>
        <p:txBody>
          <a:bodyPr spcFirstLastPara="1" wrap="square" lIns="0" tIns="0" rIns="0" bIns="0" anchor="t" anchorCtr="0">
            <a:noAutofit/>
          </a:bodyPr>
          <a:lstStyle/>
          <a:p>
            <a:pPr marL="342900" marR="0" lvl="0" indent="-342900" algn="l" rtl="0">
              <a:lnSpc>
                <a:spcPct val="164000"/>
              </a:lnSpc>
              <a:spcBef>
                <a:spcPts val="0"/>
              </a:spcBef>
              <a:spcAft>
                <a:spcPts val="0"/>
              </a:spcAft>
              <a:buClr>
                <a:srgbClr val="DCD7E5"/>
              </a:buClr>
              <a:buSzPts val="1250"/>
              <a:buFont typeface="Heebo"/>
              <a:buChar char="•"/>
            </a:pPr>
            <a:r>
              <a:rPr lang="en-US" sz="1250" b="0" i="0" u="none" strike="noStrike" cap="none">
                <a:solidFill>
                  <a:srgbClr val="DCD7E5"/>
                </a:solidFill>
                <a:latin typeface="Heebo"/>
                <a:ea typeface="Heebo"/>
                <a:cs typeface="Heebo"/>
                <a:sym typeface="Heebo"/>
              </a:rPr>
              <a:t>Exposed on port 80.</a:t>
            </a:r>
            <a:endParaRPr sz="1250" b="0" i="0" u="none" strike="noStrike" cap="none"/>
          </a:p>
        </p:txBody>
      </p:sp>
      <p:sp>
        <p:nvSpPr>
          <p:cNvPr id="239" name="Google Shape;239;p23"/>
          <p:cNvSpPr/>
          <p:nvPr/>
        </p:nvSpPr>
        <p:spPr>
          <a:xfrm>
            <a:off x="7397472" y="6651665"/>
            <a:ext cx="369927" cy="369927"/>
          </a:xfrm>
          <a:prstGeom prst="roundRect">
            <a:avLst>
              <a:gd name="adj" fmla="val 18671"/>
            </a:avLst>
          </a:prstGeom>
          <a:solidFill>
            <a:srgbClr val="31136C"/>
          </a:solidFill>
          <a:ln w="9525" cap="flat" cmpd="sng">
            <a:solidFill>
              <a:srgbClr val="4A2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240" name="Google Shape;240;p23" descr="preencoded.png"/>
          <p:cNvPicPr preferRelativeResize="0"/>
          <p:nvPr/>
        </p:nvPicPr>
        <p:blipFill rotWithShape="1">
          <a:blip r:embed="rId6"/>
          <a:srcRect/>
          <a:stretch>
            <a:fillRect/>
          </a:stretch>
        </p:blipFill>
        <p:spPr>
          <a:xfrm>
            <a:off x="7459087" y="6682442"/>
            <a:ext cx="246578" cy="308253"/>
          </a:xfrm>
          <a:prstGeom prst="rect">
            <a:avLst/>
          </a:prstGeom>
          <a:noFill/>
          <a:ln>
            <a:noFill/>
          </a:ln>
        </p:spPr>
      </p:pic>
      <p:sp>
        <p:nvSpPr>
          <p:cNvPr id="241" name="Google Shape;241;p23"/>
          <p:cNvSpPr/>
          <p:nvPr/>
        </p:nvSpPr>
        <p:spPr>
          <a:xfrm>
            <a:off x="7931825" y="6651665"/>
            <a:ext cx="3286006" cy="256937"/>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DCD7E5"/>
              </a:buClr>
              <a:buSzPts val="1600"/>
              <a:buFont typeface="Montserrat" panose="00000500000000000000"/>
              <a:buNone/>
            </a:pPr>
            <a:r>
              <a:rPr lang="en-US" sz="160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Ingress Controller Configuration</a:t>
            </a:r>
            <a:endParaRPr sz="1600" b="0" i="0" u="none" strike="noStrike" cap="none"/>
          </a:p>
        </p:txBody>
      </p:sp>
      <p:sp>
        <p:nvSpPr>
          <p:cNvPr id="242" name="Google Shape;242;p23"/>
          <p:cNvSpPr/>
          <p:nvPr/>
        </p:nvSpPr>
        <p:spPr>
          <a:xfrm>
            <a:off x="7931825" y="7007185"/>
            <a:ext cx="6123146" cy="263009"/>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DCD7E5"/>
              </a:buClr>
              <a:buSzPts val="1250"/>
              <a:buFont typeface="Heebo"/>
              <a:buNone/>
            </a:pPr>
            <a:r>
              <a:rPr lang="en-US" sz="1250" b="0" i="0" u="none" strike="noStrike" cap="none">
                <a:solidFill>
                  <a:srgbClr val="DCD7E5"/>
                </a:solidFill>
                <a:latin typeface="Heebo"/>
                <a:ea typeface="Heebo"/>
                <a:cs typeface="Heebo"/>
                <a:sym typeface="Heebo"/>
              </a:rPr>
              <a:t>Defined NGINX-based Ingress routes:</a:t>
            </a:r>
            <a:endParaRPr sz="1250" b="0" i="0" u="none" strike="noStrike" cap="none"/>
          </a:p>
        </p:txBody>
      </p:sp>
      <p:sp>
        <p:nvSpPr>
          <p:cNvPr id="243" name="Google Shape;243;p23"/>
          <p:cNvSpPr/>
          <p:nvPr/>
        </p:nvSpPr>
        <p:spPr>
          <a:xfrm>
            <a:off x="7931825" y="7368778"/>
            <a:ext cx="6123146" cy="263009"/>
          </a:xfrm>
          <a:prstGeom prst="rect">
            <a:avLst/>
          </a:prstGeom>
          <a:noFill/>
          <a:ln>
            <a:noFill/>
          </a:ln>
        </p:spPr>
        <p:txBody>
          <a:bodyPr spcFirstLastPara="1" wrap="square" lIns="0" tIns="0" rIns="0" bIns="0" anchor="t" anchorCtr="0">
            <a:noAutofit/>
          </a:bodyPr>
          <a:lstStyle/>
          <a:p>
            <a:pPr marL="342900" marR="0" lvl="0" indent="-342900" algn="l" rtl="0">
              <a:lnSpc>
                <a:spcPct val="164000"/>
              </a:lnSpc>
              <a:spcBef>
                <a:spcPts val="0"/>
              </a:spcBef>
              <a:spcAft>
                <a:spcPts val="0"/>
              </a:spcAft>
              <a:buClr>
                <a:srgbClr val="DCD7E5"/>
              </a:buClr>
              <a:buSzPts val="1250"/>
              <a:buFont typeface="Heebo"/>
              <a:buChar char="•"/>
            </a:pPr>
            <a:r>
              <a:rPr lang="en-US" sz="1250" b="0" i="0" u="none" strike="noStrike" cap="none">
                <a:solidFill>
                  <a:srgbClr val="DCD7E5"/>
                </a:solidFill>
                <a:latin typeface="Heebo"/>
                <a:ea typeface="Heebo"/>
                <a:cs typeface="Heebo"/>
                <a:sym typeface="Heebo"/>
              </a:rPr>
              <a:t>/ → Frontend Service.</a:t>
            </a:r>
            <a:endParaRPr sz="1250" b="0" i="0" u="none" strike="noStrike" cap="none"/>
          </a:p>
        </p:txBody>
      </p:sp>
      <p:sp>
        <p:nvSpPr>
          <p:cNvPr id="244" name="Google Shape;244;p23"/>
          <p:cNvSpPr/>
          <p:nvPr/>
        </p:nvSpPr>
        <p:spPr>
          <a:xfrm>
            <a:off x="7931825" y="7689294"/>
            <a:ext cx="6123146" cy="263009"/>
          </a:xfrm>
          <a:prstGeom prst="rect">
            <a:avLst/>
          </a:prstGeom>
          <a:noFill/>
          <a:ln>
            <a:noFill/>
          </a:ln>
        </p:spPr>
        <p:txBody>
          <a:bodyPr spcFirstLastPara="1" wrap="square" lIns="0" tIns="0" rIns="0" bIns="0" anchor="t" anchorCtr="0">
            <a:noAutofit/>
          </a:bodyPr>
          <a:lstStyle/>
          <a:p>
            <a:pPr marL="342900" marR="0" lvl="0" indent="-342900" algn="l" rtl="0">
              <a:lnSpc>
                <a:spcPct val="164000"/>
              </a:lnSpc>
              <a:spcBef>
                <a:spcPts val="0"/>
              </a:spcBef>
              <a:spcAft>
                <a:spcPts val="0"/>
              </a:spcAft>
              <a:buClr>
                <a:srgbClr val="DCD7E5"/>
              </a:buClr>
              <a:buSzPts val="1250"/>
              <a:buFont typeface="Heebo"/>
              <a:buChar char="•"/>
            </a:pPr>
            <a:r>
              <a:rPr lang="en-US" sz="1250" b="0" i="0" u="none" strike="noStrike" cap="none">
                <a:solidFill>
                  <a:srgbClr val="DCD7E5"/>
                </a:solidFill>
                <a:latin typeface="Heebo"/>
                <a:ea typeface="Heebo"/>
                <a:cs typeface="Heebo"/>
                <a:sym typeface="Heebo"/>
              </a:rPr>
              <a:t>/api → Backend Service.</a:t>
            </a:r>
            <a:endParaRPr sz="1250" b="0" i="0" u="none" strike="noStrike" cap="none"/>
          </a:p>
        </p:txBody>
      </p:sp>
      <p:sp>
        <p:nvSpPr>
          <p:cNvPr id="246" name="Google Shape;246;p23"/>
          <p:cNvSpPr/>
          <p:nvPr/>
        </p:nvSpPr>
        <p:spPr>
          <a:xfrm>
            <a:off x="575548" y="8457724"/>
            <a:ext cx="13479304" cy="263009"/>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DCD7E5"/>
              </a:buClr>
              <a:buSzPts val="1250"/>
              <a:buFont typeface="Heebo"/>
              <a:buNone/>
            </a:pPr>
            <a:r>
              <a:rPr lang="en-US" sz="1250" b="0" i="0" u="none" strike="noStrike" cap="none">
                <a:solidFill>
                  <a:srgbClr val="DCD7E5"/>
                </a:solidFill>
                <a:latin typeface="Heebo"/>
                <a:ea typeface="Heebo"/>
                <a:cs typeface="Heebo"/>
                <a:sym typeface="Heebo"/>
              </a:rPr>
              <a:t>Link: </a:t>
            </a:r>
            <a:r>
              <a:rPr lang="en-US" sz="1250" b="0" i="0" u="sng" strike="noStrike" cap="none">
                <a:solidFill>
                  <a:schemeClr val="hlink"/>
                </a:solidFill>
                <a:latin typeface="Heebo"/>
                <a:ea typeface="Heebo"/>
                <a:cs typeface="Heebo"/>
                <a:sym typeface="Heebo"/>
                <a:hlinkClick r:id="rId7"/>
              </a:rPr>
              <a:t>https://github.com/Sayan8967/myaiwebapp/blob/V3.Kube\_Prod/terraform-deployment.tf</a:t>
            </a:r>
            <a:endParaRPr sz="1250" b="0" i="0" u="none" strike="noStrike" cap="none"/>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51" name="Shape 251"/>
        <p:cNvGrpSpPr/>
        <p:nvPr/>
      </p:nvGrpSpPr>
      <p:grpSpPr>
        <a:xfrm>
          <a:off x="0" y="0"/>
          <a:ext cx="0" cy="0"/>
          <a:chOff x="0" y="0"/>
          <a:chExt cx="0" cy="0"/>
        </a:xfrm>
      </p:grpSpPr>
      <p:sp>
        <p:nvSpPr>
          <p:cNvPr id="252" name="Google Shape;252;p24"/>
          <p:cNvSpPr/>
          <p:nvPr/>
        </p:nvSpPr>
        <p:spPr>
          <a:xfrm>
            <a:off x="766167" y="601980"/>
            <a:ext cx="7229237" cy="684133"/>
          </a:xfrm>
          <a:prstGeom prst="rect">
            <a:avLst/>
          </a:prstGeom>
          <a:noFill/>
          <a:ln>
            <a:noFill/>
          </a:ln>
        </p:spPr>
        <p:txBody>
          <a:bodyPr spcFirstLastPara="1" wrap="square" lIns="0" tIns="0" rIns="0" bIns="0" anchor="t" anchorCtr="0">
            <a:noAutofit/>
          </a:bodyPr>
          <a:lstStyle/>
          <a:p>
            <a:pPr marL="0" marR="0" lvl="0" indent="0" algn="l" rtl="0">
              <a:lnSpc>
                <a:spcPct val="124000"/>
              </a:lnSpc>
              <a:spcBef>
                <a:spcPts val="0"/>
              </a:spcBef>
              <a:spcAft>
                <a:spcPts val="0"/>
              </a:spcAft>
              <a:buClr>
                <a:srgbClr val="F2F0F4"/>
              </a:buClr>
              <a:buSzPts val="4300"/>
              <a:buFont typeface="Montserrat" panose="00000500000000000000"/>
              <a:buNone/>
            </a:pPr>
            <a:r>
              <a:rPr lang="en-US" sz="4300" b="1" i="0" u="none" strike="noStrike" cap="none">
                <a:solidFill>
                  <a:srgbClr val="F2F0F4"/>
                </a:solidFill>
                <a:latin typeface="Montserrat" panose="00000500000000000000"/>
                <a:ea typeface="Montserrat" panose="00000500000000000000"/>
                <a:cs typeface="Montserrat" panose="00000500000000000000"/>
                <a:sym typeface="Montserrat" panose="00000500000000000000"/>
              </a:rPr>
              <a:t>CI/CD Deployment Chart:</a:t>
            </a:r>
            <a:endParaRPr sz="4300" b="0" i="0" u="none" strike="noStrike" cap="none"/>
          </a:p>
        </p:txBody>
      </p:sp>
      <p:pic>
        <p:nvPicPr>
          <p:cNvPr id="253" name="Google Shape;253;p24" descr="preencoded.png"/>
          <p:cNvPicPr preferRelativeResize="0"/>
          <p:nvPr/>
        </p:nvPicPr>
        <p:blipFill rotWithShape="1">
          <a:blip r:embed="rId1"/>
          <a:srcRect/>
          <a:stretch>
            <a:fillRect/>
          </a:stretch>
        </p:blipFill>
        <p:spPr>
          <a:xfrm>
            <a:off x="766167" y="1860709"/>
            <a:ext cx="10235208" cy="5743218"/>
          </a:xfrm>
          <a:prstGeom prst="rect">
            <a:avLst/>
          </a:prstGeom>
          <a:noFill/>
          <a:ln>
            <a:noFill/>
          </a:ln>
        </p:spPr>
      </p:pic>
      <p:sp>
        <p:nvSpPr>
          <p:cNvPr id="254" name="Google Shape;254;p24"/>
          <p:cNvSpPr/>
          <p:nvPr/>
        </p:nvSpPr>
        <p:spPr>
          <a:xfrm>
            <a:off x="11543109" y="1811417"/>
            <a:ext cx="2328624" cy="350282"/>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SzPts val="1700"/>
              <a:buFont typeface="Arial" panose="020B0604020202020204"/>
              <a:buNone/>
            </a:pPr>
            <a:endParaRPr sz="1700" b="0" i="0" u="none" strike="noStrike" cap="non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59" name="Shape 259"/>
        <p:cNvGrpSpPr/>
        <p:nvPr/>
      </p:nvGrpSpPr>
      <p:grpSpPr>
        <a:xfrm>
          <a:off x="0" y="0"/>
          <a:ext cx="0" cy="0"/>
          <a:chOff x="0" y="0"/>
          <a:chExt cx="0" cy="0"/>
        </a:xfrm>
      </p:grpSpPr>
      <p:sp>
        <p:nvSpPr>
          <p:cNvPr id="260" name="Google Shape;260;p25"/>
          <p:cNvSpPr/>
          <p:nvPr/>
        </p:nvSpPr>
        <p:spPr>
          <a:xfrm>
            <a:off x="584359" y="459105"/>
            <a:ext cx="8228290" cy="521732"/>
          </a:xfrm>
          <a:prstGeom prst="rect">
            <a:avLst/>
          </a:prstGeom>
          <a:noFill/>
          <a:ln>
            <a:noFill/>
          </a:ln>
        </p:spPr>
        <p:txBody>
          <a:bodyPr spcFirstLastPara="1" wrap="square" lIns="0" tIns="0" rIns="0" bIns="0" anchor="t" anchorCtr="0">
            <a:noAutofit/>
          </a:bodyPr>
          <a:lstStyle/>
          <a:p>
            <a:pPr marL="0" marR="0" lvl="0" indent="0" algn="l" rtl="0">
              <a:lnSpc>
                <a:spcPct val="126000"/>
              </a:lnSpc>
              <a:spcBef>
                <a:spcPts val="0"/>
              </a:spcBef>
              <a:spcAft>
                <a:spcPts val="0"/>
              </a:spcAft>
              <a:buClr>
                <a:srgbClr val="F2F0F4"/>
              </a:buClr>
              <a:buSzPts val="3250"/>
              <a:buFont typeface="Montserrat" panose="00000500000000000000"/>
              <a:buNone/>
            </a:pPr>
            <a:r>
              <a:rPr lang="en-US" sz="3250" b="1" i="0" u="none" strike="noStrike" cap="none">
                <a:solidFill>
                  <a:srgbClr val="F2F0F4"/>
                </a:solidFill>
                <a:latin typeface="Montserrat" panose="00000500000000000000"/>
                <a:ea typeface="Montserrat" panose="00000500000000000000"/>
                <a:cs typeface="Montserrat" panose="00000500000000000000"/>
                <a:sym typeface="Montserrat" panose="00000500000000000000"/>
              </a:rPr>
              <a:t>Azure DevOps with CI/CD integration:</a:t>
            </a:r>
            <a:endParaRPr sz="3250" b="0" i="0" u="none" strike="noStrike" cap="none"/>
          </a:p>
        </p:txBody>
      </p:sp>
      <p:pic>
        <p:nvPicPr>
          <p:cNvPr id="261" name="Google Shape;261;p25" descr="preencoded.png"/>
          <p:cNvPicPr preferRelativeResize="0"/>
          <p:nvPr/>
        </p:nvPicPr>
        <p:blipFill rotWithShape="1">
          <a:blip r:embed="rId1"/>
          <a:srcRect/>
          <a:stretch>
            <a:fillRect/>
          </a:stretch>
        </p:blipFill>
        <p:spPr>
          <a:xfrm>
            <a:off x="584359" y="1418987"/>
            <a:ext cx="6804541" cy="5935147"/>
          </a:xfrm>
          <a:prstGeom prst="rect">
            <a:avLst/>
          </a:prstGeom>
          <a:noFill/>
          <a:ln>
            <a:noFill/>
          </a:ln>
        </p:spPr>
      </p:pic>
      <p:pic>
        <p:nvPicPr>
          <p:cNvPr id="262" name="Google Shape;262;p25" descr="preencoded.png"/>
          <p:cNvPicPr preferRelativeResize="0"/>
          <p:nvPr/>
        </p:nvPicPr>
        <p:blipFill rotWithShape="1">
          <a:blip r:embed="rId2"/>
          <a:srcRect/>
          <a:stretch>
            <a:fillRect/>
          </a:stretch>
        </p:blipFill>
        <p:spPr>
          <a:xfrm>
            <a:off x="7803515" y="1419225"/>
            <a:ext cx="6249670" cy="3472180"/>
          </a:xfrm>
          <a:prstGeom prst="rect">
            <a:avLst/>
          </a:prstGeom>
          <a:noFill/>
          <a:ln>
            <a:noFill/>
          </a:ln>
        </p:spPr>
      </p:pic>
      <p:pic>
        <p:nvPicPr>
          <p:cNvPr id="263" name="Google Shape;263;p25" descr="preencoded.png"/>
          <p:cNvPicPr preferRelativeResize="0"/>
          <p:nvPr/>
        </p:nvPicPr>
        <p:blipFill rotWithShape="1">
          <a:blip r:embed="rId3"/>
          <a:srcRect/>
          <a:stretch>
            <a:fillRect/>
          </a:stretch>
        </p:blipFill>
        <p:spPr>
          <a:xfrm>
            <a:off x="7803515" y="5066665"/>
            <a:ext cx="6656070" cy="305181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268" name="Shape 268"/>
        <p:cNvGrpSpPr/>
        <p:nvPr/>
      </p:nvGrpSpPr>
      <p:grpSpPr>
        <a:xfrm>
          <a:off x="0" y="0"/>
          <a:ext cx="0" cy="0"/>
          <a:chOff x="0" y="0"/>
          <a:chExt cx="0" cy="0"/>
        </a:xfrm>
      </p:grpSpPr>
      <p:sp>
        <p:nvSpPr>
          <p:cNvPr id="269" name="Google Shape;269;p26"/>
          <p:cNvSpPr/>
          <p:nvPr/>
        </p:nvSpPr>
        <p:spPr>
          <a:xfrm>
            <a:off x="665559" y="522922"/>
            <a:ext cx="4754285" cy="594241"/>
          </a:xfrm>
          <a:prstGeom prst="rect">
            <a:avLst/>
          </a:prstGeom>
          <a:noFill/>
          <a:ln>
            <a:noFill/>
          </a:ln>
        </p:spPr>
        <p:txBody>
          <a:bodyPr spcFirstLastPara="1" wrap="square" lIns="0" tIns="0" rIns="0" bIns="0" anchor="t" anchorCtr="0">
            <a:noAutofit/>
          </a:bodyPr>
          <a:lstStyle/>
          <a:p>
            <a:pPr marL="0" marR="0" lvl="0" indent="0" algn="l" rtl="0">
              <a:lnSpc>
                <a:spcPct val="126000"/>
              </a:lnSpc>
              <a:spcBef>
                <a:spcPts val="0"/>
              </a:spcBef>
              <a:spcAft>
                <a:spcPts val="0"/>
              </a:spcAft>
              <a:buClr>
                <a:srgbClr val="F2F0F4"/>
              </a:buClr>
              <a:buSzPts val="3700"/>
              <a:buFont typeface="Montserrat" panose="00000500000000000000"/>
              <a:buNone/>
            </a:pPr>
            <a:r>
              <a:rPr lang="en-US" sz="3700" b="1" i="0" u="none" strike="noStrike" cap="none">
                <a:solidFill>
                  <a:srgbClr val="F2F0F4"/>
                </a:solidFill>
                <a:latin typeface="Montserrat" panose="00000500000000000000"/>
                <a:ea typeface="Montserrat" panose="00000500000000000000"/>
                <a:cs typeface="Montserrat" panose="00000500000000000000"/>
                <a:sym typeface="Montserrat" panose="00000500000000000000"/>
              </a:rPr>
              <a:t>Cont.</a:t>
            </a:r>
            <a:endParaRPr sz="3700" b="0" i="0" u="none" strike="noStrike" cap="none"/>
          </a:p>
        </p:txBody>
      </p:sp>
      <p:pic>
        <p:nvPicPr>
          <p:cNvPr id="270" name="Google Shape;270;p26" descr="preencoded.png"/>
          <p:cNvPicPr preferRelativeResize="0"/>
          <p:nvPr/>
        </p:nvPicPr>
        <p:blipFill rotWithShape="1">
          <a:blip r:embed="rId1"/>
          <a:srcRect/>
          <a:stretch>
            <a:fillRect/>
          </a:stretch>
        </p:blipFill>
        <p:spPr>
          <a:xfrm>
            <a:off x="665559" y="1616154"/>
            <a:ext cx="7243405" cy="2230160"/>
          </a:xfrm>
          <a:prstGeom prst="rect">
            <a:avLst/>
          </a:prstGeom>
          <a:noFill/>
          <a:ln>
            <a:noFill/>
          </a:ln>
        </p:spPr>
      </p:pic>
      <p:pic>
        <p:nvPicPr>
          <p:cNvPr id="271" name="Google Shape;271;p26" descr="preencoded.png"/>
          <p:cNvPicPr preferRelativeResize="0"/>
          <p:nvPr/>
        </p:nvPicPr>
        <p:blipFill rotWithShape="1">
          <a:blip r:embed="rId2"/>
          <a:srcRect/>
          <a:stretch>
            <a:fillRect/>
          </a:stretch>
        </p:blipFill>
        <p:spPr>
          <a:xfrm>
            <a:off x="665559" y="4060150"/>
            <a:ext cx="5916454" cy="3623429"/>
          </a:xfrm>
          <a:prstGeom prst="rect">
            <a:avLst/>
          </a:prstGeom>
          <a:noFill/>
          <a:ln>
            <a:noFill/>
          </a:ln>
        </p:spPr>
      </p:pic>
      <p:pic>
        <p:nvPicPr>
          <p:cNvPr id="272" name="Google Shape;272;p26" descr="preencoded.png"/>
          <p:cNvPicPr preferRelativeResize="0"/>
          <p:nvPr/>
        </p:nvPicPr>
        <p:blipFill rotWithShape="1">
          <a:blip r:embed="rId3"/>
          <a:srcRect/>
          <a:stretch>
            <a:fillRect/>
          </a:stretch>
        </p:blipFill>
        <p:spPr>
          <a:xfrm>
            <a:off x="8380452" y="1616154"/>
            <a:ext cx="5591889" cy="3084076"/>
          </a:xfrm>
          <a:prstGeom prst="rect">
            <a:avLst/>
          </a:prstGeom>
          <a:noFill/>
          <a:ln>
            <a:noFill/>
          </a:ln>
        </p:spPr>
      </p:pic>
      <p:pic>
        <p:nvPicPr>
          <p:cNvPr id="273" name="Google Shape;273;p26" descr="preencoded.png"/>
          <p:cNvPicPr preferRelativeResize="0"/>
          <p:nvPr/>
        </p:nvPicPr>
        <p:blipFill rotWithShape="1">
          <a:blip r:embed="rId4"/>
          <a:srcRect/>
          <a:stretch>
            <a:fillRect/>
          </a:stretch>
        </p:blipFill>
        <p:spPr>
          <a:xfrm>
            <a:off x="8380452" y="4914067"/>
            <a:ext cx="4553545" cy="214788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278" name="Shape 278"/>
        <p:cNvGrpSpPr/>
        <p:nvPr/>
      </p:nvGrpSpPr>
      <p:grpSpPr>
        <a:xfrm>
          <a:off x="0" y="0"/>
          <a:ext cx="0" cy="0"/>
          <a:chOff x="0" y="0"/>
          <a:chExt cx="0" cy="0"/>
        </a:xfrm>
      </p:grpSpPr>
      <p:pic>
        <p:nvPicPr>
          <p:cNvPr id="279" name="Google Shape;279;p27" descr="preencoded.png"/>
          <p:cNvPicPr preferRelativeResize="0"/>
          <p:nvPr/>
        </p:nvPicPr>
        <p:blipFill rotWithShape="1">
          <a:blip r:embed="rId1"/>
          <a:srcRect/>
          <a:stretch>
            <a:fillRect/>
          </a:stretch>
        </p:blipFill>
        <p:spPr>
          <a:xfrm>
            <a:off x="0" y="0"/>
            <a:ext cx="14630400" cy="2351723"/>
          </a:xfrm>
          <a:prstGeom prst="rect">
            <a:avLst/>
          </a:prstGeom>
          <a:noFill/>
          <a:ln>
            <a:noFill/>
          </a:ln>
        </p:spPr>
      </p:pic>
      <p:sp>
        <p:nvSpPr>
          <p:cNvPr id="280" name="Google Shape;280;p27"/>
          <p:cNvSpPr/>
          <p:nvPr/>
        </p:nvSpPr>
        <p:spPr>
          <a:xfrm>
            <a:off x="658416" y="2869882"/>
            <a:ext cx="6294477" cy="587812"/>
          </a:xfrm>
          <a:prstGeom prst="rect">
            <a:avLst/>
          </a:prstGeom>
          <a:noFill/>
          <a:ln>
            <a:noFill/>
          </a:ln>
        </p:spPr>
        <p:txBody>
          <a:bodyPr spcFirstLastPara="1" wrap="square" lIns="0" tIns="0" rIns="0" bIns="0" anchor="t" anchorCtr="0">
            <a:noAutofit/>
          </a:bodyPr>
          <a:lstStyle/>
          <a:p>
            <a:pPr marL="0" marR="0" lvl="0" indent="0" algn="l" rtl="0">
              <a:lnSpc>
                <a:spcPct val="124000"/>
              </a:lnSpc>
              <a:spcBef>
                <a:spcPts val="0"/>
              </a:spcBef>
              <a:spcAft>
                <a:spcPts val="0"/>
              </a:spcAft>
              <a:buClr>
                <a:srgbClr val="F2F0F4"/>
              </a:buClr>
              <a:buSzPts val="3700"/>
              <a:buFont typeface="Montserrat" panose="00000500000000000000"/>
              <a:buNone/>
            </a:pPr>
            <a:r>
              <a:rPr lang="en-US" sz="3700" b="1" i="0" u="none" strike="noStrike" cap="none">
                <a:solidFill>
                  <a:srgbClr val="F2F0F4"/>
                </a:solidFill>
                <a:latin typeface="Montserrat" panose="00000500000000000000"/>
                <a:ea typeface="Montserrat" panose="00000500000000000000"/>
                <a:cs typeface="Montserrat" panose="00000500000000000000"/>
                <a:sym typeface="Montserrat" panose="00000500000000000000"/>
              </a:rPr>
              <a:t>AI Model Implementation</a:t>
            </a:r>
            <a:endParaRPr sz="3700" b="0" i="0" u="none" strike="noStrike" cap="none"/>
          </a:p>
        </p:txBody>
      </p:sp>
      <p:sp>
        <p:nvSpPr>
          <p:cNvPr id="281" name="Google Shape;281;p27"/>
          <p:cNvSpPr/>
          <p:nvPr/>
        </p:nvSpPr>
        <p:spPr>
          <a:xfrm>
            <a:off x="658416" y="4304228"/>
            <a:ext cx="4249698" cy="188119"/>
          </a:xfrm>
          <a:prstGeom prst="roundRect">
            <a:avLst>
              <a:gd name="adj" fmla="val 42004"/>
            </a:avLst>
          </a:prstGeom>
          <a:solidFill>
            <a:srgbClr val="31136C"/>
          </a:solidFill>
          <a:ln w="9525" cap="flat" cmpd="sng">
            <a:solidFill>
              <a:srgbClr val="4A2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2" name="Google Shape;282;p27"/>
          <p:cNvSpPr/>
          <p:nvPr/>
        </p:nvSpPr>
        <p:spPr>
          <a:xfrm>
            <a:off x="658416" y="4774525"/>
            <a:ext cx="2523649" cy="293846"/>
          </a:xfrm>
          <a:prstGeom prst="rect">
            <a:avLst/>
          </a:prstGeom>
          <a:noFill/>
          <a:ln>
            <a:noFill/>
          </a:ln>
        </p:spPr>
        <p:txBody>
          <a:bodyPr spcFirstLastPara="1" wrap="square" lIns="0" tIns="0" rIns="0" bIns="0" anchor="t" anchorCtr="0">
            <a:noAutofit/>
          </a:bodyPr>
          <a:lstStyle/>
          <a:p>
            <a:pPr marL="0" marR="0" lvl="0" indent="0" algn="l" rtl="0">
              <a:lnSpc>
                <a:spcPct val="124000"/>
              </a:lnSpc>
              <a:spcBef>
                <a:spcPts val="0"/>
              </a:spcBef>
              <a:spcAft>
                <a:spcPts val="0"/>
              </a:spcAft>
              <a:buClr>
                <a:srgbClr val="DCD7E5"/>
              </a:buClr>
              <a:buSzPts val="1850"/>
              <a:buFont typeface="Montserrat" panose="00000500000000000000"/>
              <a:buNone/>
            </a:pPr>
            <a:r>
              <a:rPr lang="en-US" sz="185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Base Model Selection</a:t>
            </a:r>
            <a:endParaRPr sz="1850" b="0" i="0" u="none" strike="noStrike" cap="none"/>
          </a:p>
        </p:txBody>
      </p:sp>
      <p:sp>
        <p:nvSpPr>
          <p:cNvPr id="283" name="Google Shape;283;p27"/>
          <p:cNvSpPr/>
          <p:nvPr/>
        </p:nvSpPr>
        <p:spPr>
          <a:xfrm>
            <a:off x="658416" y="5181243"/>
            <a:ext cx="4249698" cy="1203960"/>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DCD7E5"/>
              </a:buClr>
              <a:buSzPts val="1450"/>
              <a:buFont typeface="Heebo"/>
              <a:buNone/>
            </a:pPr>
            <a:r>
              <a:rPr lang="en-US" sz="1450" b="0" i="0" u="none" strike="noStrike" cap="none">
                <a:solidFill>
                  <a:srgbClr val="DCD7E5"/>
                </a:solidFill>
                <a:latin typeface="Heebo"/>
                <a:ea typeface="Heebo"/>
                <a:cs typeface="Heebo"/>
                <a:sym typeface="Heebo"/>
              </a:rPr>
              <a:t>Starting with LLaMA 3.2-1B for its balance of performance and resource efficiency. This lightweight model requires less computational power while maintaining reasonable accuracy.</a:t>
            </a:r>
            <a:endParaRPr sz="1450" b="0" i="0" u="none" strike="noStrike" cap="none"/>
          </a:p>
        </p:txBody>
      </p:sp>
      <p:sp>
        <p:nvSpPr>
          <p:cNvPr id="284" name="Google Shape;284;p27"/>
          <p:cNvSpPr/>
          <p:nvPr/>
        </p:nvSpPr>
        <p:spPr>
          <a:xfrm>
            <a:off x="5190292" y="4022050"/>
            <a:ext cx="4249698" cy="188119"/>
          </a:xfrm>
          <a:prstGeom prst="roundRect">
            <a:avLst>
              <a:gd name="adj" fmla="val 42004"/>
            </a:avLst>
          </a:prstGeom>
          <a:solidFill>
            <a:srgbClr val="31136C"/>
          </a:solidFill>
          <a:ln w="9525" cap="flat" cmpd="sng">
            <a:solidFill>
              <a:srgbClr val="4A2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5" name="Google Shape;285;p27"/>
          <p:cNvSpPr/>
          <p:nvPr/>
        </p:nvSpPr>
        <p:spPr>
          <a:xfrm>
            <a:off x="5190292" y="4492347"/>
            <a:ext cx="2395299" cy="293846"/>
          </a:xfrm>
          <a:prstGeom prst="rect">
            <a:avLst/>
          </a:prstGeom>
          <a:noFill/>
          <a:ln>
            <a:noFill/>
          </a:ln>
        </p:spPr>
        <p:txBody>
          <a:bodyPr spcFirstLastPara="1" wrap="square" lIns="0" tIns="0" rIns="0" bIns="0" anchor="t" anchorCtr="0">
            <a:noAutofit/>
          </a:bodyPr>
          <a:lstStyle/>
          <a:p>
            <a:pPr marL="0" marR="0" lvl="0" indent="0" algn="l" rtl="0">
              <a:lnSpc>
                <a:spcPct val="124000"/>
              </a:lnSpc>
              <a:spcBef>
                <a:spcPts val="0"/>
              </a:spcBef>
              <a:spcAft>
                <a:spcPts val="0"/>
              </a:spcAft>
              <a:buClr>
                <a:srgbClr val="DCD7E5"/>
              </a:buClr>
              <a:buSzPts val="1850"/>
              <a:buFont typeface="Montserrat" panose="00000500000000000000"/>
              <a:buNone/>
            </a:pPr>
            <a:r>
              <a:rPr lang="en-US" sz="185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Fine-Tuning Process</a:t>
            </a:r>
            <a:endParaRPr sz="1850" b="0" i="0" u="none" strike="noStrike" cap="none"/>
          </a:p>
        </p:txBody>
      </p:sp>
      <p:sp>
        <p:nvSpPr>
          <p:cNvPr id="286" name="Google Shape;286;p27"/>
          <p:cNvSpPr/>
          <p:nvPr/>
        </p:nvSpPr>
        <p:spPr>
          <a:xfrm>
            <a:off x="5190292" y="4899065"/>
            <a:ext cx="4249698" cy="1203960"/>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DCD7E5"/>
              </a:buClr>
              <a:buSzPts val="1450"/>
              <a:buFont typeface="Heebo"/>
              <a:buNone/>
            </a:pPr>
            <a:r>
              <a:rPr lang="en-US" sz="1450" b="0" i="0" u="none" strike="noStrike" cap="none">
                <a:solidFill>
                  <a:srgbClr val="DCD7E5"/>
                </a:solidFill>
                <a:latin typeface="Heebo"/>
                <a:ea typeface="Heebo"/>
                <a:cs typeface="Heebo"/>
                <a:sym typeface="Heebo"/>
              </a:rPr>
              <a:t>Specialized training using curated medical datasets from Mount Sinai's knowledge base, focusing on common patient queries and evidence-based responses.</a:t>
            </a:r>
            <a:endParaRPr sz="1450" b="0" i="0" u="none" strike="noStrike" cap="none"/>
          </a:p>
        </p:txBody>
      </p:sp>
      <p:sp>
        <p:nvSpPr>
          <p:cNvPr id="287" name="Google Shape;287;p27"/>
          <p:cNvSpPr/>
          <p:nvPr/>
        </p:nvSpPr>
        <p:spPr>
          <a:xfrm>
            <a:off x="9722168" y="3739872"/>
            <a:ext cx="4249698" cy="188119"/>
          </a:xfrm>
          <a:prstGeom prst="roundRect">
            <a:avLst>
              <a:gd name="adj" fmla="val 42004"/>
            </a:avLst>
          </a:prstGeom>
          <a:solidFill>
            <a:srgbClr val="31136C"/>
          </a:solidFill>
          <a:ln w="9525" cap="flat" cmpd="sng">
            <a:solidFill>
              <a:srgbClr val="4A2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8" name="Google Shape;288;p27"/>
          <p:cNvSpPr/>
          <p:nvPr/>
        </p:nvSpPr>
        <p:spPr>
          <a:xfrm>
            <a:off x="9722168" y="4210169"/>
            <a:ext cx="3145393" cy="293846"/>
          </a:xfrm>
          <a:prstGeom prst="rect">
            <a:avLst/>
          </a:prstGeom>
          <a:noFill/>
          <a:ln>
            <a:noFill/>
          </a:ln>
        </p:spPr>
        <p:txBody>
          <a:bodyPr spcFirstLastPara="1" wrap="square" lIns="0" tIns="0" rIns="0" bIns="0" anchor="t" anchorCtr="0">
            <a:noAutofit/>
          </a:bodyPr>
          <a:lstStyle/>
          <a:p>
            <a:pPr marL="0" marR="0" lvl="0" indent="0" algn="l" rtl="0">
              <a:lnSpc>
                <a:spcPct val="124000"/>
              </a:lnSpc>
              <a:spcBef>
                <a:spcPts val="0"/>
              </a:spcBef>
              <a:spcAft>
                <a:spcPts val="0"/>
              </a:spcAft>
              <a:buClr>
                <a:srgbClr val="DCD7E5"/>
              </a:buClr>
              <a:buSzPts val="1850"/>
              <a:buFont typeface="Montserrat" panose="00000500000000000000"/>
              <a:buNone/>
            </a:pPr>
            <a:r>
              <a:rPr lang="en-US" sz="185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Integration &amp; Optimization</a:t>
            </a:r>
            <a:endParaRPr sz="1850" b="0" i="0" u="none" strike="noStrike" cap="none"/>
          </a:p>
        </p:txBody>
      </p:sp>
      <p:sp>
        <p:nvSpPr>
          <p:cNvPr id="289" name="Google Shape;289;p27"/>
          <p:cNvSpPr/>
          <p:nvPr/>
        </p:nvSpPr>
        <p:spPr>
          <a:xfrm>
            <a:off x="9722168" y="4616887"/>
            <a:ext cx="4249698" cy="902970"/>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DCD7E5"/>
              </a:buClr>
              <a:buSzPts val="1450"/>
              <a:buFont typeface="Heebo"/>
              <a:buNone/>
            </a:pPr>
            <a:r>
              <a:rPr lang="en-US" sz="1450" b="0" i="0" u="none" strike="noStrike" cap="none">
                <a:solidFill>
                  <a:srgbClr val="DCD7E5"/>
                </a:solidFill>
                <a:latin typeface="Heebo"/>
                <a:ea typeface="Heebo"/>
                <a:cs typeface="Heebo"/>
                <a:sym typeface="Heebo"/>
              </a:rPr>
              <a:t>Model deployment within Kubernetes with CPU/GPU resource allocation, response caching, and query preprocessing to enhance performance.</a:t>
            </a:r>
            <a:endParaRPr sz="1450" b="0" i="0" u="none" strike="noStrike" cap="none"/>
          </a:p>
        </p:txBody>
      </p:sp>
      <p:sp>
        <p:nvSpPr>
          <p:cNvPr id="290" name="Google Shape;290;p27"/>
          <p:cNvSpPr/>
          <p:nvPr/>
        </p:nvSpPr>
        <p:spPr>
          <a:xfrm>
            <a:off x="658416" y="6596777"/>
            <a:ext cx="13313569" cy="601980"/>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DCD7E5"/>
              </a:buClr>
              <a:buSzPts val="1450"/>
              <a:buFont typeface="Heebo"/>
              <a:buNone/>
            </a:pPr>
            <a:r>
              <a:rPr lang="en-US" sz="1450" b="0" i="0" u="none" strike="noStrike" cap="none">
                <a:solidFill>
                  <a:srgbClr val="DCD7E5"/>
                </a:solidFill>
                <a:latin typeface="Heebo"/>
                <a:ea typeface="Heebo"/>
                <a:cs typeface="Heebo"/>
                <a:sym typeface="Heebo"/>
              </a:rPr>
              <a:t>The LLaMA model inference is integrated as a microservice, allowing independent scaling based on query volume. I have implemented rate limiting and monitoring to ensure the model remains responsive even during peak usage periods.</a:t>
            </a:r>
            <a:endParaRPr sz="1450" b="0" i="0" u="none" strike="noStrike" cap="none"/>
          </a:p>
        </p:txBody>
      </p:sp>
      <p:sp>
        <p:nvSpPr>
          <p:cNvPr id="291" name="Google Shape;291;p27"/>
          <p:cNvSpPr/>
          <p:nvPr/>
        </p:nvSpPr>
        <p:spPr>
          <a:xfrm>
            <a:off x="658416" y="7410331"/>
            <a:ext cx="13313569" cy="300990"/>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DCD7E5"/>
              </a:buClr>
              <a:buSzPts val="1450"/>
              <a:buFont typeface="Heebo"/>
              <a:buNone/>
            </a:pPr>
            <a:r>
              <a:rPr lang="en-US" sz="1450" b="0" i="0" u="none" strike="noStrike" cap="none">
                <a:solidFill>
                  <a:srgbClr val="DCD7E5"/>
                </a:solidFill>
                <a:latin typeface="Heebo"/>
                <a:ea typeface="Heebo"/>
                <a:cs typeface="Heebo"/>
                <a:sym typeface="Heebo"/>
              </a:rPr>
              <a:t>Link: </a:t>
            </a:r>
            <a:r>
              <a:rPr lang="en-US" sz="1450" b="0" i="0" u="sng" strike="noStrike" cap="none">
                <a:solidFill>
                  <a:schemeClr val="hlink"/>
                </a:solidFill>
                <a:latin typeface="Heebo"/>
                <a:ea typeface="Heebo"/>
                <a:cs typeface="Heebo"/>
                <a:sym typeface="Heebo"/>
                <a:hlinkClick r:id="rId2"/>
              </a:rPr>
              <a:t>https://ollama.com/library/llama3.2:1b</a:t>
            </a:r>
            <a:endParaRPr sz="1450" b="0" i="0" u="none" strike="noStrike" cap="non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96" name="Shape 296"/>
        <p:cNvGrpSpPr/>
        <p:nvPr/>
      </p:nvGrpSpPr>
      <p:grpSpPr>
        <a:xfrm>
          <a:off x="0" y="0"/>
          <a:ext cx="0" cy="0"/>
          <a:chOff x="0" y="0"/>
          <a:chExt cx="0" cy="0"/>
        </a:xfrm>
      </p:grpSpPr>
      <p:sp>
        <p:nvSpPr>
          <p:cNvPr id="297" name="Google Shape;297;p28"/>
          <p:cNvSpPr/>
          <p:nvPr/>
        </p:nvSpPr>
        <p:spPr>
          <a:xfrm>
            <a:off x="690920" y="658614"/>
            <a:ext cx="5670590" cy="1417558"/>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2F0F4"/>
              </a:buClr>
              <a:buSzPts val="4450"/>
              <a:buFont typeface="Montserrat" panose="00000500000000000000"/>
              <a:buNone/>
            </a:pPr>
            <a:r>
              <a:rPr lang="en-US" sz="4450" b="1" i="0" u="none" strike="noStrike" cap="none">
                <a:solidFill>
                  <a:srgbClr val="F2F0F4"/>
                </a:solidFill>
                <a:latin typeface="Montserrat" panose="00000500000000000000"/>
                <a:ea typeface="Montserrat" panose="00000500000000000000"/>
                <a:cs typeface="Montserrat" panose="00000500000000000000"/>
                <a:sym typeface="Montserrat" panose="00000500000000000000"/>
              </a:rPr>
              <a:t>Final Result:</a:t>
            </a:r>
            <a:br>
              <a:rPr lang="en-US" sz="4450" b="0" i="0" u="none" strike="noStrike" cap="none">
                <a:solidFill>
                  <a:srgbClr val="F2F0F4"/>
                </a:solidFill>
                <a:latin typeface="Montserrat" panose="00000500000000000000"/>
                <a:ea typeface="Montserrat" panose="00000500000000000000"/>
                <a:cs typeface="Montserrat" panose="00000500000000000000"/>
                <a:sym typeface="Montserrat" panose="00000500000000000000"/>
              </a:rPr>
            </a:br>
            <a:endParaRPr sz="4450" b="0" i="0" u="none" strike="noStrike" cap="none"/>
          </a:p>
        </p:txBody>
      </p:sp>
      <p:pic>
        <p:nvPicPr>
          <p:cNvPr id="298" name="Google Shape;298;p28" descr="preencoded.png"/>
          <p:cNvPicPr preferRelativeResize="0"/>
          <p:nvPr/>
        </p:nvPicPr>
        <p:blipFill rotWithShape="1">
          <a:blip r:embed="rId1"/>
          <a:srcRect/>
          <a:stretch>
            <a:fillRect/>
          </a:stretch>
        </p:blipFill>
        <p:spPr>
          <a:xfrm>
            <a:off x="793115" y="2682240"/>
            <a:ext cx="6515735" cy="3684270"/>
          </a:xfrm>
          <a:prstGeom prst="rect">
            <a:avLst/>
          </a:prstGeom>
          <a:noFill/>
          <a:ln>
            <a:noFill/>
          </a:ln>
        </p:spPr>
      </p:pic>
      <p:pic>
        <p:nvPicPr>
          <p:cNvPr id="299" name="Google Shape;299;p28" descr="preencoded.png"/>
          <p:cNvPicPr preferRelativeResize="0"/>
          <p:nvPr/>
        </p:nvPicPr>
        <p:blipFill rotWithShape="1">
          <a:blip r:embed="rId2"/>
          <a:srcRect/>
          <a:stretch>
            <a:fillRect/>
          </a:stretch>
        </p:blipFill>
        <p:spPr>
          <a:xfrm>
            <a:off x="7715250" y="2682240"/>
            <a:ext cx="5310505" cy="362013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304" name="Shape 304"/>
        <p:cNvGrpSpPr/>
        <p:nvPr/>
      </p:nvGrpSpPr>
      <p:grpSpPr>
        <a:xfrm>
          <a:off x="0" y="0"/>
          <a:ext cx="0" cy="0"/>
          <a:chOff x="0" y="0"/>
          <a:chExt cx="0" cy="0"/>
        </a:xfrm>
      </p:grpSpPr>
      <p:pic>
        <p:nvPicPr>
          <p:cNvPr id="305" name="Google Shape;305;p29" descr="preencoded.png"/>
          <p:cNvPicPr preferRelativeResize="0"/>
          <p:nvPr/>
        </p:nvPicPr>
        <p:blipFill rotWithShape="1">
          <a:blip r:embed="rId1"/>
          <a:srcRect/>
          <a:stretch>
            <a:fillRect/>
          </a:stretch>
        </p:blipFill>
        <p:spPr>
          <a:xfrm>
            <a:off x="0" y="0"/>
            <a:ext cx="5446395" cy="8229600"/>
          </a:xfrm>
          <a:prstGeom prst="rect">
            <a:avLst/>
          </a:prstGeom>
          <a:noFill/>
          <a:ln>
            <a:noFill/>
          </a:ln>
        </p:spPr>
      </p:pic>
      <p:sp>
        <p:nvSpPr>
          <p:cNvPr id="306" name="Google Shape;306;p29"/>
          <p:cNvSpPr/>
          <p:nvPr/>
        </p:nvSpPr>
        <p:spPr>
          <a:xfrm>
            <a:off x="6061948" y="452199"/>
            <a:ext cx="7422713" cy="513874"/>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2F0F4"/>
              </a:buClr>
              <a:buSzPts val="3200"/>
              <a:buFont typeface="Montserrat" panose="00000500000000000000"/>
              <a:buNone/>
            </a:pPr>
            <a:r>
              <a:rPr lang="en-US" sz="3200" b="1" i="0" u="none" strike="noStrike" cap="none">
                <a:solidFill>
                  <a:srgbClr val="F2F0F4"/>
                </a:solidFill>
                <a:latin typeface="Montserrat" panose="00000500000000000000"/>
                <a:ea typeface="Montserrat" panose="00000500000000000000"/>
                <a:cs typeface="Montserrat" panose="00000500000000000000"/>
                <a:sym typeface="Montserrat" panose="00000500000000000000"/>
              </a:rPr>
              <a:t>Security &amp; Compliance Framework</a:t>
            </a:r>
            <a:endParaRPr sz="3200" b="0" i="0" u="none" strike="noStrike" cap="none"/>
          </a:p>
        </p:txBody>
      </p:sp>
      <p:sp>
        <p:nvSpPr>
          <p:cNvPr id="307" name="Google Shape;307;p29"/>
          <p:cNvSpPr/>
          <p:nvPr/>
        </p:nvSpPr>
        <p:spPr>
          <a:xfrm>
            <a:off x="6061948" y="1212652"/>
            <a:ext cx="7992904" cy="1603653"/>
          </a:xfrm>
          <a:prstGeom prst="roundRect">
            <a:avLst>
              <a:gd name="adj" fmla="val 4307"/>
            </a:avLst>
          </a:prstGeom>
          <a:solidFill>
            <a:srgbClr val="31136C"/>
          </a:solidFill>
          <a:ln w="9525" cap="flat" cmpd="sng">
            <a:solidFill>
              <a:srgbClr val="4A2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8" name="Google Shape;308;p29"/>
          <p:cNvSpPr/>
          <p:nvPr/>
        </p:nvSpPr>
        <p:spPr>
          <a:xfrm>
            <a:off x="6233993" y="1384697"/>
            <a:ext cx="2976562" cy="256937"/>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DCD7E5"/>
              </a:buClr>
              <a:buSzPts val="1600"/>
              <a:buFont typeface="Montserrat" panose="00000500000000000000"/>
              <a:buNone/>
            </a:pPr>
            <a:r>
              <a:rPr lang="en-US" sz="160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Microsoft Defender for Cloud</a:t>
            </a:r>
            <a:endParaRPr sz="1600" b="0" i="0" u="none" strike="noStrike" cap="none"/>
          </a:p>
        </p:txBody>
      </p:sp>
      <p:sp>
        <p:nvSpPr>
          <p:cNvPr id="309" name="Google Shape;309;p29"/>
          <p:cNvSpPr/>
          <p:nvPr/>
        </p:nvSpPr>
        <p:spPr>
          <a:xfrm>
            <a:off x="6233993" y="1740218"/>
            <a:ext cx="7648813" cy="263009"/>
          </a:xfrm>
          <a:prstGeom prst="rect">
            <a:avLst/>
          </a:prstGeom>
          <a:noFill/>
          <a:ln>
            <a:noFill/>
          </a:ln>
        </p:spPr>
        <p:txBody>
          <a:bodyPr spcFirstLastPara="1" wrap="square" lIns="0" tIns="0" rIns="0" bIns="0" anchor="t" anchorCtr="0">
            <a:noAutofit/>
          </a:bodyPr>
          <a:lstStyle/>
          <a:p>
            <a:pPr marL="342900" marR="0" lvl="0" indent="-342900" algn="l" rtl="0">
              <a:lnSpc>
                <a:spcPct val="164000"/>
              </a:lnSpc>
              <a:spcBef>
                <a:spcPts val="0"/>
              </a:spcBef>
              <a:spcAft>
                <a:spcPts val="0"/>
              </a:spcAft>
              <a:buClr>
                <a:srgbClr val="DCD7E5"/>
              </a:buClr>
              <a:buSzPts val="1250"/>
              <a:buFont typeface="Heebo"/>
              <a:buChar char="•"/>
            </a:pPr>
            <a:r>
              <a:rPr lang="en-US" sz="1250" b="0" i="0" u="none" strike="noStrike" cap="none">
                <a:solidFill>
                  <a:srgbClr val="DCD7E5"/>
                </a:solidFill>
                <a:latin typeface="Heebo"/>
                <a:ea typeface="Heebo"/>
                <a:cs typeface="Heebo"/>
                <a:sym typeface="Heebo"/>
              </a:rPr>
              <a:t>Real-time threat protection</a:t>
            </a:r>
            <a:endParaRPr sz="1250" b="0" i="0" u="none" strike="noStrike" cap="none"/>
          </a:p>
        </p:txBody>
      </p:sp>
      <p:sp>
        <p:nvSpPr>
          <p:cNvPr id="310" name="Google Shape;310;p29"/>
          <p:cNvSpPr/>
          <p:nvPr/>
        </p:nvSpPr>
        <p:spPr>
          <a:xfrm>
            <a:off x="6233993" y="2060734"/>
            <a:ext cx="7648813" cy="263009"/>
          </a:xfrm>
          <a:prstGeom prst="rect">
            <a:avLst/>
          </a:prstGeom>
          <a:noFill/>
          <a:ln>
            <a:noFill/>
          </a:ln>
        </p:spPr>
        <p:txBody>
          <a:bodyPr spcFirstLastPara="1" wrap="square" lIns="0" tIns="0" rIns="0" bIns="0" anchor="t" anchorCtr="0">
            <a:noAutofit/>
          </a:bodyPr>
          <a:lstStyle/>
          <a:p>
            <a:pPr marL="342900" marR="0" lvl="0" indent="-342900" algn="l" rtl="0">
              <a:lnSpc>
                <a:spcPct val="164000"/>
              </a:lnSpc>
              <a:spcBef>
                <a:spcPts val="0"/>
              </a:spcBef>
              <a:spcAft>
                <a:spcPts val="0"/>
              </a:spcAft>
              <a:buClr>
                <a:srgbClr val="DCD7E5"/>
              </a:buClr>
              <a:buSzPts val="1250"/>
              <a:buFont typeface="Heebo"/>
              <a:buChar char="•"/>
            </a:pPr>
            <a:r>
              <a:rPr lang="en-US" sz="1250" b="0" i="0" u="none" strike="noStrike" cap="none">
                <a:solidFill>
                  <a:srgbClr val="DCD7E5"/>
                </a:solidFill>
                <a:latin typeface="Heebo"/>
                <a:ea typeface="Heebo"/>
                <a:cs typeface="Heebo"/>
                <a:sym typeface="Heebo"/>
              </a:rPr>
              <a:t>Vulnerability scanning</a:t>
            </a:r>
            <a:endParaRPr sz="1250" b="0" i="0" u="none" strike="noStrike" cap="none"/>
          </a:p>
        </p:txBody>
      </p:sp>
      <p:sp>
        <p:nvSpPr>
          <p:cNvPr id="311" name="Google Shape;311;p29"/>
          <p:cNvSpPr/>
          <p:nvPr/>
        </p:nvSpPr>
        <p:spPr>
          <a:xfrm>
            <a:off x="6233993" y="2381250"/>
            <a:ext cx="7648813" cy="263009"/>
          </a:xfrm>
          <a:prstGeom prst="rect">
            <a:avLst/>
          </a:prstGeom>
          <a:noFill/>
          <a:ln>
            <a:noFill/>
          </a:ln>
        </p:spPr>
        <p:txBody>
          <a:bodyPr spcFirstLastPara="1" wrap="square" lIns="0" tIns="0" rIns="0" bIns="0" anchor="t" anchorCtr="0">
            <a:noAutofit/>
          </a:bodyPr>
          <a:lstStyle/>
          <a:p>
            <a:pPr marL="342900" marR="0" lvl="0" indent="-342900" algn="l" rtl="0">
              <a:lnSpc>
                <a:spcPct val="164000"/>
              </a:lnSpc>
              <a:spcBef>
                <a:spcPts val="0"/>
              </a:spcBef>
              <a:spcAft>
                <a:spcPts val="0"/>
              </a:spcAft>
              <a:buClr>
                <a:srgbClr val="DCD7E5"/>
              </a:buClr>
              <a:buSzPts val="1250"/>
              <a:buFont typeface="Heebo"/>
              <a:buChar char="•"/>
            </a:pPr>
            <a:r>
              <a:rPr lang="en-US" sz="1250" b="0" i="0" u="none" strike="noStrike" cap="none">
                <a:solidFill>
                  <a:srgbClr val="DCD7E5"/>
                </a:solidFill>
                <a:latin typeface="Heebo"/>
                <a:ea typeface="Heebo"/>
                <a:cs typeface="Heebo"/>
                <a:sym typeface="Heebo"/>
              </a:rPr>
              <a:t>Compliance monitoring</a:t>
            </a:r>
            <a:endParaRPr sz="1250" b="0" i="0" u="none" strike="noStrike" cap="none"/>
          </a:p>
        </p:txBody>
      </p:sp>
      <p:sp>
        <p:nvSpPr>
          <p:cNvPr id="312" name="Google Shape;312;p29"/>
          <p:cNvSpPr/>
          <p:nvPr/>
        </p:nvSpPr>
        <p:spPr>
          <a:xfrm>
            <a:off x="6061948" y="2980730"/>
            <a:ext cx="7992904" cy="1603653"/>
          </a:xfrm>
          <a:prstGeom prst="roundRect">
            <a:avLst>
              <a:gd name="adj" fmla="val 4307"/>
            </a:avLst>
          </a:prstGeom>
          <a:solidFill>
            <a:srgbClr val="31136C"/>
          </a:solidFill>
          <a:ln w="9525" cap="flat" cmpd="sng">
            <a:solidFill>
              <a:srgbClr val="4A2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3" name="Google Shape;313;p29"/>
          <p:cNvSpPr/>
          <p:nvPr/>
        </p:nvSpPr>
        <p:spPr>
          <a:xfrm>
            <a:off x="6233993" y="3152775"/>
            <a:ext cx="2055614" cy="256937"/>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DCD7E5"/>
              </a:buClr>
              <a:buSzPts val="1600"/>
              <a:buFont typeface="Montserrat" panose="00000500000000000000"/>
              <a:buNone/>
            </a:pPr>
            <a:r>
              <a:rPr lang="en-US" sz="160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Microsoft Entra ID</a:t>
            </a:r>
            <a:endParaRPr sz="1600" b="0" i="0" u="none" strike="noStrike" cap="none"/>
          </a:p>
        </p:txBody>
      </p:sp>
      <p:sp>
        <p:nvSpPr>
          <p:cNvPr id="314" name="Google Shape;314;p29"/>
          <p:cNvSpPr/>
          <p:nvPr/>
        </p:nvSpPr>
        <p:spPr>
          <a:xfrm>
            <a:off x="6233993" y="3508296"/>
            <a:ext cx="7648813" cy="263009"/>
          </a:xfrm>
          <a:prstGeom prst="rect">
            <a:avLst/>
          </a:prstGeom>
          <a:noFill/>
          <a:ln>
            <a:noFill/>
          </a:ln>
        </p:spPr>
        <p:txBody>
          <a:bodyPr spcFirstLastPara="1" wrap="square" lIns="0" tIns="0" rIns="0" bIns="0" anchor="t" anchorCtr="0">
            <a:noAutofit/>
          </a:bodyPr>
          <a:lstStyle/>
          <a:p>
            <a:pPr marL="342900" marR="0" lvl="0" indent="-342900" algn="l" rtl="0">
              <a:lnSpc>
                <a:spcPct val="164000"/>
              </a:lnSpc>
              <a:spcBef>
                <a:spcPts val="0"/>
              </a:spcBef>
              <a:spcAft>
                <a:spcPts val="0"/>
              </a:spcAft>
              <a:buClr>
                <a:srgbClr val="DCD7E5"/>
              </a:buClr>
              <a:buSzPts val="1250"/>
              <a:buFont typeface="Heebo"/>
              <a:buChar char="•"/>
            </a:pPr>
            <a:r>
              <a:rPr lang="en-US" sz="1250" b="0" i="0" u="none" strike="noStrike" cap="none">
                <a:solidFill>
                  <a:srgbClr val="DCD7E5"/>
                </a:solidFill>
                <a:latin typeface="Heebo"/>
                <a:ea typeface="Heebo"/>
                <a:cs typeface="Heebo"/>
                <a:sym typeface="Heebo"/>
              </a:rPr>
              <a:t>Role-based access control</a:t>
            </a:r>
            <a:endParaRPr sz="1250" b="0" i="0" u="none" strike="noStrike" cap="none"/>
          </a:p>
        </p:txBody>
      </p:sp>
      <p:sp>
        <p:nvSpPr>
          <p:cNvPr id="315" name="Google Shape;315;p29"/>
          <p:cNvSpPr/>
          <p:nvPr/>
        </p:nvSpPr>
        <p:spPr>
          <a:xfrm>
            <a:off x="6233993" y="3828812"/>
            <a:ext cx="7648813" cy="263009"/>
          </a:xfrm>
          <a:prstGeom prst="rect">
            <a:avLst/>
          </a:prstGeom>
          <a:noFill/>
          <a:ln>
            <a:noFill/>
          </a:ln>
        </p:spPr>
        <p:txBody>
          <a:bodyPr spcFirstLastPara="1" wrap="square" lIns="0" tIns="0" rIns="0" bIns="0" anchor="t" anchorCtr="0">
            <a:noAutofit/>
          </a:bodyPr>
          <a:lstStyle/>
          <a:p>
            <a:pPr marL="342900" marR="0" lvl="0" indent="-342900" algn="l" rtl="0">
              <a:lnSpc>
                <a:spcPct val="164000"/>
              </a:lnSpc>
              <a:spcBef>
                <a:spcPts val="0"/>
              </a:spcBef>
              <a:spcAft>
                <a:spcPts val="0"/>
              </a:spcAft>
              <a:buClr>
                <a:srgbClr val="DCD7E5"/>
              </a:buClr>
              <a:buSzPts val="1250"/>
              <a:buFont typeface="Heebo"/>
              <a:buChar char="•"/>
            </a:pPr>
            <a:r>
              <a:rPr lang="en-US" sz="1250" b="0" i="0" u="none" strike="noStrike" cap="none">
                <a:solidFill>
                  <a:srgbClr val="DCD7E5"/>
                </a:solidFill>
                <a:latin typeface="Heebo"/>
                <a:ea typeface="Heebo"/>
                <a:cs typeface="Heebo"/>
                <a:sym typeface="Heebo"/>
              </a:rPr>
              <a:t>Multi-factor authentication</a:t>
            </a:r>
            <a:endParaRPr sz="1250" b="0" i="0" u="none" strike="noStrike" cap="none"/>
          </a:p>
        </p:txBody>
      </p:sp>
      <p:sp>
        <p:nvSpPr>
          <p:cNvPr id="316" name="Google Shape;316;p29"/>
          <p:cNvSpPr/>
          <p:nvPr/>
        </p:nvSpPr>
        <p:spPr>
          <a:xfrm>
            <a:off x="6233993" y="4149328"/>
            <a:ext cx="7648813" cy="263009"/>
          </a:xfrm>
          <a:prstGeom prst="rect">
            <a:avLst/>
          </a:prstGeom>
          <a:noFill/>
          <a:ln>
            <a:noFill/>
          </a:ln>
        </p:spPr>
        <p:txBody>
          <a:bodyPr spcFirstLastPara="1" wrap="square" lIns="0" tIns="0" rIns="0" bIns="0" anchor="t" anchorCtr="0">
            <a:noAutofit/>
          </a:bodyPr>
          <a:lstStyle/>
          <a:p>
            <a:pPr marL="342900" marR="0" lvl="0" indent="-342900" algn="l" rtl="0">
              <a:lnSpc>
                <a:spcPct val="164000"/>
              </a:lnSpc>
              <a:spcBef>
                <a:spcPts val="0"/>
              </a:spcBef>
              <a:spcAft>
                <a:spcPts val="0"/>
              </a:spcAft>
              <a:buClr>
                <a:srgbClr val="DCD7E5"/>
              </a:buClr>
              <a:buSzPts val="1250"/>
              <a:buFont typeface="Heebo"/>
              <a:buChar char="•"/>
            </a:pPr>
            <a:r>
              <a:rPr lang="en-US" sz="1250" b="0" i="0" u="none" strike="noStrike" cap="none">
                <a:solidFill>
                  <a:srgbClr val="DCD7E5"/>
                </a:solidFill>
                <a:latin typeface="Heebo"/>
                <a:ea typeface="Heebo"/>
                <a:cs typeface="Heebo"/>
                <a:sym typeface="Heebo"/>
              </a:rPr>
              <a:t>Service principal management</a:t>
            </a:r>
            <a:endParaRPr sz="1250" b="0" i="0" u="none" strike="noStrike" cap="none"/>
          </a:p>
        </p:txBody>
      </p:sp>
      <p:sp>
        <p:nvSpPr>
          <p:cNvPr id="317" name="Google Shape;317;p29"/>
          <p:cNvSpPr/>
          <p:nvPr/>
        </p:nvSpPr>
        <p:spPr>
          <a:xfrm>
            <a:off x="6061948" y="4748808"/>
            <a:ext cx="7992904" cy="1603653"/>
          </a:xfrm>
          <a:prstGeom prst="roundRect">
            <a:avLst>
              <a:gd name="adj" fmla="val 4307"/>
            </a:avLst>
          </a:prstGeom>
          <a:solidFill>
            <a:srgbClr val="31136C"/>
          </a:solidFill>
          <a:ln w="9525" cap="flat" cmpd="sng">
            <a:solidFill>
              <a:srgbClr val="4A2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8" name="Google Shape;318;p29"/>
          <p:cNvSpPr/>
          <p:nvPr/>
        </p:nvSpPr>
        <p:spPr>
          <a:xfrm>
            <a:off x="6233993" y="4920853"/>
            <a:ext cx="2055614" cy="256937"/>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DCD7E5"/>
              </a:buClr>
              <a:buSzPts val="1600"/>
              <a:buFont typeface="Montserrat" panose="00000500000000000000"/>
              <a:buNone/>
            </a:pPr>
            <a:r>
              <a:rPr lang="en-US" sz="160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Microsoft Sentinel</a:t>
            </a:r>
            <a:endParaRPr sz="1600" b="0" i="0" u="none" strike="noStrike" cap="none"/>
          </a:p>
        </p:txBody>
      </p:sp>
      <p:sp>
        <p:nvSpPr>
          <p:cNvPr id="319" name="Google Shape;319;p29"/>
          <p:cNvSpPr/>
          <p:nvPr/>
        </p:nvSpPr>
        <p:spPr>
          <a:xfrm>
            <a:off x="6233993" y="5276374"/>
            <a:ext cx="7648813" cy="263009"/>
          </a:xfrm>
          <a:prstGeom prst="rect">
            <a:avLst/>
          </a:prstGeom>
          <a:noFill/>
          <a:ln>
            <a:noFill/>
          </a:ln>
        </p:spPr>
        <p:txBody>
          <a:bodyPr spcFirstLastPara="1" wrap="square" lIns="0" tIns="0" rIns="0" bIns="0" anchor="t" anchorCtr="0">
            <a:noAutofit/>
          </a:bodyPr>
          <a:lstStyle/>
          <a:p>
            <a:pPr marL="342900" marR="0" lvl="0" indent="-342900" algn="l" rtl="0">
              <a:lnSpc>
                <a:spcPct val="164000"/>
              </a:lnSpc>
              <a:spcBef>
                <a:spcPts val="0"/>
              </a:spcBef>
              <a:spcAft>
                <a:spcPts val="0"/>
              </a:spcAft>
              <a:buClr>
                <a:srgbClr val="DCD7E5"/>
              </a:buClr>
              <a:buSzPts val="1250"/>
              <a:buFont typeface="Heebo"/>
              <a:buChar char="•"/>
            </a:pPr>
            <a:r>
              <a:rPr lang="en-US" sz="1250" b="0" i="0" u="none" strike="noStrike" cap="none">
                <a:solidFill>
                  <a:srgbClr val="DCD7E5"/>
                </a:solidFill>
                <a:latin typeface="Heebo"/>
                <a:ea typeface="Heebo"/>
                <a:cs typeface="Heebo"/>
                <a:sym typeface="Heebo"/>
              </a:rPr>
              <a:t>Security event monitoring</a:t>
            </a:r>
            <a:endParaRPr sz="1250" b="0" i="0" u="none" strike="noStrike" cap="none"/>
          </a:p>
        </p:txBody>
      </p:sp>
      <p:sp>
        <p:nvSpPr>
          <p:cNvPr id="320" name="Google Shape;320;p29"/>
          <p:cNvSpPr/>
          <p:nvPr/>
        </p:nvSpPr>
        <p:spPr>
          <a:xfrm>
            <a:off x="6233993" y="5596890"/>
            <a:ext cx="7648813" cy="263009"/>
          </a:xfrm>
          <a:prstGeom prst="rect">
            <a:avLst/>
          </a:prstGeom>
          <a:noFill/>
          <a:ln>
            <a:noFill/>
          </a:ln>
        </p:spPr>
        <p:txBody>
          <a:bodyPr spcFirstLastPara="1" wrap="square" lIns="0" tIns="0" rIns="0" bIns="0" anchor="t" anchorCtr="0">
            <a:noAutofit/>
          </a:bodyPr>
          <a:lstStyle/>
          <a:p>
            <a:pPr marL="342900" marR="0" lvl="0" indent="-342900" algn="l" rtl="0">
              <a:lnSpc>
                <a:spcPct val="164000"/>
              </a:lnSpc>
              <a:spcBef>
                <a:spcPts val="0"/>
              </a:spcBef>
              <a:spcAft>
                <a:spcPts val="0"/>
              </a:spcAft>
              <a:buClr>
                <a:srgbClr val="DCD7E5"/>
              </a:buClr>
              <a:buSzPts val="1250"/>
              <a:buFont typeface="Heebo"/>
              <a:buChar char="•"/>
            </a:pPr>
            <a:r>
              <a:rPr lang="en-US" sz="1250" b="0" i="0" u="none" strike="noStrike" cap="none">
                <a:solidFill>
                  <a:srgbClr val="DCD7E5"/>
                </a:solidFill>
                <a:latin typeface="Heebo"/>
                <a:ea typeface="Heebo"/>
                <a:cs typeface="Heebo"/>
                <a:sym typeface="Heebo"/>
              </a:rPr>
              <a:t>Threat intelligence</a:t>
            </a:r>
            <a:endParaRPr sz="1250" b="0" i="0" u="none" strike="noStrike" cap="none"/>
          </a:p>
        </p:txBody>
      </p:sp>
      <p:sp>
        <p:nvSpPr>
          <p:cNvPr id="321" name="Google Shape;321;p29"/>
          <p:cNvSpPr/>
          <p:nvPr/>
        </p:nvSpPr>
        <p:spPr>
          <a:xfrm>
            <a:off x="6233993" y="5917406"/>
            <a:ext cx="7648813" cy="263009"/>
          </a:xfrm>
          <a:prstGeom prst="rect">
            <a:avLst/>
          </a:prstGeom>
          <a:noFill/>
          <a:ln>
            <a:noFill/>
          </a:ln>
        </p:spPr>
        <p:txBody>
          <a:bodyPr spcFirstLastPara="1" wrap="square" lIns="0" tIns="0" rIns="0" bIns="0" anchor="t" anchorCtr="0">
            <a:noAutofit/>
          </a:bodyPr>
          <a:lstStyle/>
          <a:p>
            <a:pPr marL="342900" marR="0" lvl="0" indent="-342900" algn="l" rtl="0">
              <a:lnSpc>
                <a:spcPct val="164000"/>
              </a:lnSpc>
              <a:spcBef>
                <a:spcPts val="0"/>
              </a:spcBef>
              <a:spcAft>
                <a:spcPts val="0"/>
              </a:spcAft>
              <a:buClr>
                <a:srgbClr val="DCD7E5"/>
              </a:buClr>
              <a:buSzPts val="1250"/>
              <a:buFont typeface="Heebo"/>
              <a:buChar char="•"/>
            </a:pPr>
            <a:r>
              <a:rPr lang="en-US" sz="1250" b="0" i="0" u="none" strike="noStrike" cap="none">
                <a:solidFill>
                  <a:srgbClr val="DCD7E5"/>
                </a:solidFill>
                <a:latin typeface="Heebo"/>
                <a:ea typeface="Heebo"/>
                <a:cs typeface="Heebo"/>
                <a:sym typeface="Heebo"/>
              </a:rPr>
              <a:t>Security analytics</a:t>
            </a:r>
            <a:endParaRPr sz="1250" b="0" i="0" u="none" strike="noStrike" cap="none"/>
          </a:p>
        </p:txBody>
      </p:sp>
      <p:sp>
        <p:nvSpPr>
          <p:cNvPr id="322" name="Google Shape;322;p29"/>
          <p:cNvSpPr/>
          <p:nvPr/>
        </p:nvSpPr>
        <p:spPr>
          <a:xfrm>
            <a:off x="6061948" y="6516886"/>
            <a:ext cx="7992904" cy="1603653"/>
          </a:xfrm>
          <a:prstGeom prst="roundRect">
            <a:avLst>
              <a:gd name="adj" fmla="val 4307"/>
            </a:avLst>
          </a:prstGeom>
          <a:solidFill>
            <a:srgbClr val="31136C"/>
          </a:solidFill>
          <a:ln w="9525" cap="flat" cmpd="sng">
            <a:solidFill>
              <a:srgbClr val="4A2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3" name="Google Shape;323;p29"/>
          <p:cNvSpPr/>
          <p:nvPr/>
        </p:nvSpPr>
        <p:spPr>
          <a:xfrm>
            <a:off x="6233993" y="6688931"/>
            <a:ext cx="2415778" cy="256937"/>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DCD7E5"/>
              </a:buClr>
              <a:buSzPts val="1600"/>
              <a:buFont typeface="Montserrat" panose="00000500000000000000"/>
              <a:buNone/>
            </a:pPr>
            <a:r>
              <a:rPr lang="en-US" sz="160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Healthcare Compliance</a:t>
            </a:r>
            <a:endParaRPr sz="1600" b="0" i="0" u="none" strike="noStrike" cap="none"/>
          </a:p>
        </p:txBody>
      </p:sp>
      <p:sp>
        <p:nvSpPr>
          <p:cNvPr id="324" name="Google Shape;324;p29"/>
          <p:cNvSpPr/>
          <p:nvPr/>
        </p:nvSpPr>
        <p:spPr>
          <a:xfrm>
            <a:off x="6233993" y="7044452"/>
            <a:ext cx="7648813" cy="263009"/>
          </a:xfrm>
          <a:prstGeom prst="rect">
            <a:avLst/>
          </a:prstGeom>
          <a:noFill/>
          <a:ln>
            <a:noFill/>
          </a:ln>
        </p:spPr>
        <p:txBody>
          <a:bodyPr spcFirstLastPara="1" wrap="square" lIns="0" tIns="0" rIns="0" bIns="0" anchor="t" anchorCtr="0">
            <a:noAutofit/>
          </a:bodyPr>
          <a:lstStyle/>
          <a:p>
            <a:pPr marL="342900" marR="0" lvl="0" indent="-342900" algn="l" rtl="0">
              <a:lnSpc>
                <a:spcPct val="164000"/>
              </a:lnSpc>
              <a:spcBef>
                <a:spcPts val="0"/>
              </a:spcBef>
              <a:spcAft>
                <a:spcPts val="0"/>
              </a:spcAft>
              <a:buClr>
                <a:srgbClr val="DCD7E5"/>
              </a:buClr>
              <a:buSzPts val="1250"/>
              <a:buFont typeface="Heebo"/>
              <a:buChar char="•"/>
            </a:pPr>
            <a:r>
              <a:rPr lang="en-US" sz="1250" b="0" i="0" u="none" strike="noStrike" cap="none">
                <a:solidFill>
                  <a:srgbClr val="DCD7E5"/>
                </a:solidFill>
                <a:latin typeface="Heebo"/>
                <a:ea typeface="Heebo"/>
                <a:cs typeface="Heebo"/>
                <a:sym typeface="Heebo"/>
              </a:rPr>
              <a:t>HIPAA alignment</a:t>
            </a:r>
            <a:endParaRPr sz="1250" b="0" i="0" u="none" strike="noStrike" cap="none"/>
          </a:p>
        </p:txBody>
      </p:sp>
      <p:sp>
        <p:nvSpPr>
          <p:cNvPr id="325" name="Google Shape;325;p29"/>
          <p:cNvSpPr/>
          <p:nvPr/>
        </p:nvSpPr>
        <p:spPr>
          <a:xfrm>
            <a:off x="6233993" y="7364968"/>
            <a:ext cx="7648813" cy="263009"/>
          </a:xfrm>
          <a:prstGeom prst="rect">
            <a:avLst/>
          </a:prstGeom>
          <a:noFill/>
          <a:ln>
            <a:noFill/>
          </a:ln>
        </p:spPr>
        <p:txBody>
          <a:bodyPr spcFirstLastPara="1" wrap="square" lIns="0" tIns="0" rIns="0" bIns="0" anchor="t" anchorCtr="0">
            <a:noAutofit/>
          </a:bodyPr>
          <a:lstStyle/>
          <a:p>
            <a:pPr marL="342900" marR="0" lvl="0" indent="-342900" algn="l" rtl="0">
              <a:lnSpc>
                <a:spcPct val="164000"/>
              </a:lnSpc>
              <a:spcBef>
                <a:spcPts val="0"/>
              </a:spcBef>
              <a:spcAft>
                <a:spcPts val="0"/>
              </a:spcAft>
              <a:buClr>
                <a:srgbClr val="DCD7E5"/>
              </a:buClr>
              <a:buSzPts val="1250"/>
              <a:buFont typeface="Heebo"/>
              <a:buChar char="•"/>
            </a:pPr>
            <a:r>
              <a:rPr lang="en-US" sz="1250" b="0" i="0" u="none" strike="noStrike" cap="none">
                <a:solidFill>
                  <a:srgbClr val="DCD7E5"/>
                </a:solidFill>
                <a:latin typeface="Heebo"/>
                <a:ea typeface="Heebo"/>
                <a:cs typeface="Heebo"/>
                <a:sym typeface="Heebo"/>
              </a:rPr>
              <a:t>PHI protection measures</a:t>
            </a:r>
            <a:endParaRPr sz="1250" b="0" i="0" u="none" strike="noStrike" cap="none"/>
          </a:p>
        </p:txBody>
      </p:sp>
      <p:sp>
        <p:nvSpPr>
          <p:cNvPr id="326" name="Google Shape;326;p29"/>
          <p:cNvSpPr/>
          <p:nvPr/>
        </p:nvSpPr>
        <p:spPr>
          <a:xfrm>
            <a:off x="6233993" y="7685484"/>
            <a:ext cx="7648813" cy="263009"/>
          </a:xfrm>
          <a:prstGeom prst="rect">
            <a:avLst/>
          </a:prstGeom>
          <a:noFill/>
          <a:ln>
            <a:noFill/>
          </a:ln>
        </p:spPr>
        <p:txBody>
          <a:bodyPr spcFirstLastPara="1" wrap="square" lIns="0" tIns="0" rIns="0" bIns="0" anchor="t" anchorCtr="0">
            <a:noAutofit/>
          </a:bodyPr>
          <a:lstStyle/>
          <a:p>
            <a:pPr marL="342900" marR="0" lvl="0" indent="-342900" algn="l" rtl="0">
              <a:lnSpc>
                <a:spcPct val="164000"/>
              </a:lnSpc>
              <a:spcBef>
                <a:spcPts val="0"/>
              </a:spcBef>
              <a:spcAft>
                <a:spcPts val="0"/>
              </a:spcAft>
              <a:buClr>
                <a:srgbClr val="DCD7E5"/>
              </a:buClr>
              <a:buSzPts val="1250"/>
              <a:buFont typeface="Heebo"/>
              <a:buChar char="•"/>
            </a:pPr>
            <a:r>
              <a:rPr lang="en-US" sz="1250" b="0" i="0" u="none" strike="noStrike" cap="none">
                <a:solidFill>
                  <a:srgbClr val="DCD7E5"/>
                </a:solidFill>
                <a:latin typeface="Heebo"/>
                <a:ea typeface="Heebo"/>
                <a:cs typeface="Heebo"/>
                <a:sym typeface="Heebo"/>
              </a:rPr>
              <a:t>Access auditing</a:t>
            </a:r>
            <a:endParaRPr sz="1250" b="0" i="0" u="none" strike="noStrike" cap="none"/>
          </a:p>
        </p:txBody>
      </p:sp>
      <p:sp>
        <p:nvSpPr>
          <p:cNvPr id="327" name="Google Shape;327;p29"/>
          <p:cNvSpPr/>
          <p:nvPr/>
        </p:nvSpPr>
        <p:spPr>
          <a:xfrm>
            <a:off x="0" y="6604000"/>
            <a:ext cx="5446395" cy="1612900"/>
          </a:xfrm>
          <a:prstGeom prst="rect">
            <a:avLst/>
          </a:prstGeom>
          <a:noFill/>
          <a:ln>
            <a:noFill/>
          </a:ln>
        </p:spPr>
        <p:txBody>
          <a:bodyPr spcFirstLastPara="1" wrap="square" lIns="0" tIns="0" rIns="0" bIns="0" anchor="t" anchorCtr="0">
            <a:noAutofit/>
          </a:bodyPr>
          <a:lstStyle/>
          <a:p>
            <a:pPr marL="0" marR="0" lvl="0" indent="0" algn="l" rtl="0">
              <a:lnSpc>
                <a:spcPct val="164000"/>
              </a:lnSpc>
              <a:spcBef>
                <a:spcPts val="0"/>
              </a:spcBef>
              <a:spcAft>
                <a:spcPts val="0"/>
              </a:spcAft>
              <a:buClr>
                <a:srgbClr val="DCD7E5"/>
              </a:buClr>
              <a:buSzPts val="1250"/>
              <a:buFont typeface="Heebo"/>
              <a:buNone/>
            </a:pPr>
            <a:r>
              <a:rPr lang="en-US" sz="1250" b="0" i="0" u="none" strike="noStrike" cap="none">
                <a:solidFill>
                  <a:srgbClr val="DCD7E5"/>
                </a:solidFill>
                <a:latin typeface="Heebo"/>
                <a:ea typeface="Heebo"/>
                <a:cs typeface="Heebo"/>
                <a:sym typeface="Heebo"/>
              </a:rPr>
              <a:t>Given the sensitive nature of healthcare data, our security framework implements defense-in-depth strategies across all application layers. We employ automated vulnerability scanning and compliance checks to ensure ongoing protection.</a:t>
            </a:r>
            <a:endParaRPr sz="1250" b="0" i="0" u="none" strike="noStrike" cap="none"/>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332" name="Shape 332"/>
        <p:cNvGrpSpPr/>
        <p:nvPr/>
      </p:nvGrpSpPr>
      <p:grpSpPr>
        <a:xfrm>
          <a:off x="0" y="0"/>
          <a:ext cx="0" cy="0"/>
          <a:chOff x="0" y="0"/>
          <a:chExt cx="0" cy="0"/>
        </a:xfrm>
      </p:grpSpPr>
      <p:sp>
        <p:nvSpPr>
          <p:cNvPr id="333" name="Google Shape;333;p30"/>
          <p:cNvSpPr/>
          <p:nvPr/>
        </p:nvSpPr>
        <p:spPr>
          <a:xfrm>
            <a:off x="637818" y="502087"/>
            <a:ext cx="8402122" cy="455533"/>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2F0F4"/>
              </a:buClr>
              <a:buSzPts val="2850"/>
              <a:buFont typeface="Montserrat" panose="00000500000000000000"/>
              <a:buNone/>
            </a:pPr>
            <a:r>
              <a:rPr lang="en-US" sz="2850" b="1" i="0" u="none" strike="noStrike" cap="none">
                <a:solidFill>
                  <a:srgbClr val="F2F0F4"/>
                </a:solidFill>
                <a:latin typeface="Montserrat" panose="00000500000000000000"/>
                <a:ea typeface="Montserrat" panose="00000500000000000000"/>
                <a:cs typeface="Montserrat" panose="00000500000000000000"/>
                <a:sym typeface="Montserrat" panose="00000500000000000000"/>
              </a:rPr>
              <a:t>Implementation Roadmap &amp; Key Takeaways</a:t>
            </a:r>
            <a:endParaRPr sz="2850" b="0" i="0" u="none" strike="noStrike" cap="none"/>
          </a:p>
        </p:txBody>
      </p:sp>
      <p:sp>
        <p:nvSpPr>
          <p:cNvPr id="334" name="Google Shape;334;p30"/>
          <p:cNvSpPr/>
          <p:nvPr/>
        </p:nvSpPr>
        <p:spPr>
          <a:xfrm>
            <a:off x="7303770" y="1322070"/>
            <a:ext cx="22860" cy="4829294"/>
          </a:xfrm>
          <a:prstGeom prst="roundRect">
            <a:avLst>
              <a:gd name="adj" fmla="val 334832"/>
            </a:avLst>
          </a:prstGeom>
          <a:solidFill>
            <a:srgbClr val="4A2C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5" name="Google Shape;335;p30"/>
          <p:cNvSpPr/>
          <p:nvPr/>
        </p:nvSpPr>
        <p:spPr>
          <a:xfrm>
            <a:off x="6586478" y="1720453"/>
            <a:ext cx="546616" cy="22860"/>
          </a:xfrm>
          <a:prstGeom prst="roundRect">
            <a:avLst>
              <a:gd name="adj" fmla="val 334832"/>
            </a:avLst>
          </a:prstGeom>
          <a:solidFill>
            <a:srgbClr val="4A2C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6" name="Google Shape;336;p30"/>
          <p:cNvSpPr/>
          <p:nvPr/>
        </p:nvSpPr>
        <p:spPr>
          <a:xfrm>
            <a:off x="7110234" y="1526977"/>
            <a:ext cx="409932" cy="409932"/>
          </a:xfrm>
          <a:prstGeom prst="roundRect">
            <a:avLst>
              <a:gd name="adj" fmla="val 18672"/>
            </a:avLst>
          </a:prstGeom>
          <a:solidFill>
            <a:srgbClr val="31136C"/>
          </a:solidFill>
          <a:ln w="9525" cap="flat" cmpd="sng">
            <a:solidFill>
              <a:srgbClr val="4A2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337" name="Google Shape;337;p30" descr="preencoded.png"/>
          <p:cNvPicPr preferRelativeResize="0"/>
          <p:nvPr/>
        </p:nvPicPr>
        <p:blipFill rotWithShape="1">
          <a:blip r:embed="rId1"/>
          <a:srcRect/>
          <a:stretch>
            <a:fillRect/>
          </a:stretch>
        </p:blipFill>
        <p:spPr>
          <a:xfrm>
            <a:off x="7178516" y="1561088"/>
            <a:ext cx="273248" cy="341590"/>
          </a:xfrm>
          <a:prstGeom prst="rect">
            <a:avLst/>
          </a:prstGeom>
          <a:noFill/>
          <a:ln>
            <a:noFill/>
          </a:ln>
        </p:spPr>
      </p:pic>
      <p:sp>
        <p:nvSpPr>
          <p:cNvPr id="338" name="Google Shape;338;p30"/>
          <p:cNvSpPr/>
          <p:nvPr/>
        </p:nvSpPr>
        <p:spPr>
          <a:xfrm>
            <a:off x="3152418" y="1504236"/>
            <a:ext cx="3251597" cy="284678"/>
          </a:xfrm>
          <a:prstGeom prst="rect">
            <a:avLst/>
          </a:prstGeom>
          <a:noFill/>
          <a:ln>
            <a:noFill/>
          </a:ln>
        </p:spPr>
        <p:txBody>
          <a:bodyPr spcFirstLastPara="1" wrap="square" lIns="0" tIns="0" rIns="0" bIns="0" anchor="t" anchorCtr="0">
            <a:noAutofit/>
          </a:bodyPr>
          <a:lstStyle/>
          <a:p>
            <a:pPr marL="0" marR="0" lvl="0" indent="0" algn="r" rtl="0">
              <a:lnSpc>
                <a:spcPct val="126000"/>
              </a:lnSpc>
              <a:spcBef>
                <a:spcPts val="0"/>
              </a:spcBef>
              <a:spcAft>
                <a:spcPts val="0"/>
              </a:spcAft>
              <a:buClr>
                <a:srgbClr val="DCD7E5"/>
              </a:buClr>
              <a:buSzPts val="1750"/>
              <a:buFont typeface="Montserrat" panose="00000500000000000000"/>
              <a:buNone/>
            </a:pPr>
            <a:r>
              <a:rPr lang="en-US" sz="175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Phase 1: Infrastructure Setup</a:t>
            </a:r>
            <a:endParaRPr sz="1750" b="0" i="0" u="none" strike="noStrike" cap="none"/>
          </a:p>
        </p:txBody>
      </p:sp>
      <p:sp>
        <p:nvSpPr>
          <p:cNvPr id="339" name="Google Shape;339;p30"/>
          <p:cNvSpPr/>
          <p:nvPr/>
        </p:nvSpPr>
        <p:spPr>
          <a:xfrm>
            <a:off x="637818" y="1898213"/>
            <a:ext cx="5766197" cy="583168"/>
          </a:xfrm>
          <a:prstGeom prst="rect">
            <a:avLst/>
          </a:prstGeom>
          <a:noFill/>
          <a:ln>
            <a:noFill/>
          </a:ln>
        </p:spPr>
        <p:txBody>
          <a:bodyPr spcFirstLastPara="1" wrap="square" lIns="0" tIns="0" rIns="0" bIns="0" anchor="t" anchorCtr="0">
            <a:noAutofit/>
          </a:bodyPr>
          <a:lstStyle/>
          <a:p>
            <a:pPr marL="0" marR="0" lvl="0" indent="0" algn="r" rtl="0">
              <a:lnSpc>
                <a:spcPct val="161000"/>
              </a:lnSpc>
              <a:spcBef>
                <a:spcPts val="0"/>
              </a:spcBef>
              <a:spcAft>
                <a:spcPts val="0"/>
              </a:spcAft>
              <a:buClr>
                <a:srgbClr val="DCD7E5"/>
              </a:buClr>
              <a:buSzPts val="1400"/>
              <a:buFont typeface="Heebo"/>
              <a:buNone/>
            </a:pPr>
            <a:r>
              <a:rPr lang="en-US" sz="1400" b="0" i="0" u="none" strike="noStrike" cap="none">
                <a:solidFill>
                  <a:srgbClr val="DCD7E5"/>
                </a:solidFill>
                <a:latin typeface="Heebo"/>
                <a:ea typeface="Heebo"/>
                <a:cs typeface="Heebo"/>
                <a:sym typeface="Heebo"/>
              </a:rPr>
              <a:t>Provisioning Azure resources via Terraform, establishing CI/CD pipelines</a:t>
            </a:r>
            <a:endParaRPr sz="1400" b="0" i="0" u="none" strike="noStrike" cap="none"/>
          </a:p>
        </p:txBody>
      </p:sp>
      <p:sp>
        <p:nvSpPr>
          <p:cNvPr id="340" name="Google Shape;340;p30"/>
          <p:cNvSpPr/>
          <p:nvPr/>
        </p:nvSpPr>
        <p:spPr>
          <a:xfrm>
            <a:off x="7497306" y="2631519"/>
            <a:ext cx="546616" cy="22860"/>
          </a:xfrm>
          <a:prstGeom prst="roundRect">
            <a:avLst>
              <a:gd name="adj" fmla="val 334832"/>
            </a:avLst>
          </a:prstGeom>
          <a:solidFill>
            <a:srgbClr val="4A2C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1" name="Google Shape;341;p30"/>
          <p:cNvSpPr/>
          <p:nvPr/>
        </p:nvSpPr>
        <p:spPr>
          <a:xfrm>
            <a:off x="7110234" y="2438043"/>
            <a:ext cx="409932" cy="409932"/>
          </a:xfrm>
          <a:prstGeom prst="roundRect">
            <a:avLst>
              <a:gd name="adj" fmla="val 18672"/>
            </a:avLst>
          </a:prstGeom>
          <a:solidFill>
            <a:srgbClr val="31136C"/>
          </a:solidFill>
          <a:ln w="9525" cap="flat" cmpd="sng">
            <a:solidFill>
              <a:srgbClr val="4A2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342" name="Google Shape;342;p30" descr="preencoded.png"/>
          <p:cNvPicPr preferRelativeResize="0"/>
          <p:nvPr/>
        </p:nvPicPr>
        <p:blipFill rotWithShape="1">
          <a:blip r:embed="rId2"/>
          <a:srcRect/>
          <a:stretch>
            <a:fillRect/>
          </a:stretch>
        </p:blipFill>
        <p:spPr>
          <a:xfrm>
            <a:off x="7178516" y="2472154"/>
            <a:ext cx="273248" cy="341590"/>
          </a:xfrm>
          <a:prstGeom prst="rect">
            <a:avLst/>
          </a:prstGeom>
          <a:noFill/>
          <a:ln>
            <a:noFill/>
          </a:ln>
        </p:spPr>
      </p:pic>
      <p:sp>
        <p:nvSpPr>
          <p:cNvPr id="343" name="Google Shape;343;p30"/>
          <p:cNvSpPr/>
          <p:nvPr/>
        </p:nvSpPr>
        <p:spPr>
          <a:xfrm>
            <a:off x="8226385" y="2415302"/>
            <a:ext cx="3626048" cy="284678"/>
          </a:xfrm>
          <a:prstGeom prst="rect">
            <a:avLst/>
          </a:prstGeom>
          <a:noFill/>
          <a:ln>
            <a:noFill/>
          </a:ln>
        </p:spPr>
        <p:txBody>
          <a:bodyPr spcFirstLastPara="1" wrap="square" lIns="0" tIns="0" rIns="0" bIns="0" anchor="t" anchorCtr="0">
            <a:noAutofit/>
          </a:bodyPr>
          <a:lstStyle/>
          <a:p>
            <a:pPr marL="0" marR="0" lvl="0" indent="0" algn="l" rtl="0">
              <a:lnSpc>
                <a:spcPct val="126000"/>
              </a:lnSpc>
              <a:spcBef>
                <a:spcPts val="0"/>
              </a:spcBef>
              <a:spcAft>
                <a:spcPts val="0"/>
              </a:spcAft>
              <a:buClr>
                <a:srgbClr val="DCD7E5"/>
              </a:buClr>
              <a:buSzPts val="1750"/>
              <a:buFont typeface="Montserrat" panose="00000500000000000000"/>
              <a:buNone/>
            </a:pPr>
            <a:r>
              <a:rPr lang="en-US" sz="175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Phase 2: AI Model Development</a:t>
            </a:r>
            <a:endParaRPr sz="1750" b="0" i="0" u="none" strike="noStrike" cap="none"/>
          </a:p>
        </p:txBody>
      </p:sp>
      <p:sp>
        <p:nvSpPr>
          <p:cNvPr id="344" name="Google Shape;344;p30"/>
          <p:cNvSpPr/>
          <p:nvPr/>
        </p:nvSpPr>
        <p:spPr>
          <a:xfrm>
            <a:off x="8226385" y="2809280"/>
            <a:ext cx="5766197" cy="291584"/>
          </a:xfrm>
          <a:prstGeom prst="rect">
            <a:avLst/>
          </a:prstGeom>
          <a:noFill/>
          <a:ln>
            <a:noFill/>
          </a:ln>
        </p:spPr>
        <p:txBody>
          <a:bodyPr spcFirstLastPara="1" wrap="square" lIns="0" tIns="0" rIns="0" bIns="0" anchor="t" anchorCtr="0">
            <a:noAutofit/>
          </a:bodyPr>
          <a:lstStyle/>
          <a:p>
            <a:pPr marL="0" marR="0" lvl="0" indent="0" algn="l" rtl="0">
              <a:lnSpc>
                <a:spcPct val="161000"/>
              </a:lnSpc>
              <a:spcBef>
                <a:spcPts val="0"/>
              </a:spcBef>
              <a:spcAft>
                <a:spcPts val="0"/>
              </a:spcAft>
              <a:buClr>
                <a:srgbClr val="DCD7E5"/>
              </a:buClr>
              <a:buSzPts val="1400"/>
              <a:buFont typeface="Heebo"/>
              <a:buNone/>
            </a:pPr>
            <a:r>
              <a:rPr lang="en-US" sz="1400" b="0" i="0" u="none" strike="noStrike" cap="none">
                <a:solidFill>
                  <a:srgbClr val="DCD7E5"/>
                </a:solidFill>
                <a:latin typeface="Heebo"/>
                <a:ea typeface="Heebo"/>
                <a:cs typeface="Heebo"/>
                <a:sym typeface="Heebo"/>
              </a:rPr>
              <a:t>Fine-tuning LLaMA model with medical datasets, containerization</a:t>
            </a:r>
            <a:endParaRPr sz="1400" b="0" i="0" u="none" strike="noStrike" cap="none"/>
          </a:p>
        </p:txBody>
      </p:sp>
      <p:sp>
        <p:nvSpPr>
          <p:cNvPr id="345" name="Google Shape;345;p30"/>
          <p:cNvSpPr/>
          <p:nvPr/>
        </p:nvSpPr>
        <p:spPr>
          <a:xfrm>
            <a:off x="6586478" y="3451503"/>
            <a:ext cx="546616" cy="22860"/>
          </a:xfrm>
          <a:prstGeom prst="roundRect">
            <a:avLst>
              <a:gd name="adj" fmla="val 334832"/>
            </a:avLst>
          </a:prstGeom>
          <a:solidFill>
            <a:srgbClr val="4A2C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6" name="Google Shape;346;p30"/>
          <p:cNvSpPr/>
          <p:nvPr/>
        </p:nvSpPr>
        <p:spPr>
          <a:xfrm>
            <a:off x="7110234" y="3258026"/>
            <a:ext cx="409932" cy="409932"/>
          </a:xfrm>
          <a:prstGeom prst="roundRect">
            <a:avLst>
              <a:gd name="adj" fmla="val 18672"/>
            </a:avLst>
          </a:prstGeom>
          <a:solidFill>
            <a:srgbClr val="31136C"/>
          </a:solidFill>
          <a:ln w="9525" cap="flat" cmpd="sng">
            <a:solidFill>
              <a:srgbClr val="4A2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347" name="Google Shape;347;p30" descr="preencoded.png"/>
          <p:cNvPicPr preferRelativeResize="0"/>
          <p:nvPr/>
        </p:nvPicPr>
        <p:blipFill rotWithShape="1">
          <a:blip r:embed="rId3"/>
          <a:srcRect/>
          <a:stretch>
            <a:fillRect/>
          </a:stretch>
        </p:blipFill>
        <p:spPr>
          <a:xfrm>
            <a:off x="7178516" y="3292138"/>
            <a:ext cx="273248" cy="341590"/>
          </a:xfrm>
          <a:prstGeom prst="rect">
            <a:avLst/>
          </a:prstGeom>
          <a:noFill/>
          <a:ln>
            <a:noFill/>
          </a:ln>
        </p:spPr>
      </p:pic>
      <p:sp>
        <p:nvSpPr>
          <p:cNvPr id="348" name="Google Shape;348;p30"/>
          <p:cNvSpPr/>
          <p:nvPr/>
        </p:nvSpPr>
        <p:spPr>
          <a:xfrm>
            <a:off x="1735812" y="3235285"/>
            <a:ext cx="4668203" cy="284678"/>
          </a:xfrm>
          <a:prstGeom prst="rect">
            <a:avLst/>
          </a:prstGeom>
          <a:noFill/>
          <a:ln>
            <a:noFill/>
          </a:ln>
        </p:spPr>
        <p:txBody>
          <a:bodyPr spcFirstLastPara="1" wrap="square" lIns="0" tIns="0" rIns="0" bIns="0" anchor="t" anchorCtr="0">
            <a:noAutofit/>
          </a:bodyPr>
          <a:lstStyle/>
          <a:p>
            <a:pPr marL="0" marR="0" lvl="0" indent="0" algn="r" rtl="0">
              <a:lnSpc>
                <a:spcPct val="126000"/>
              </a:lnSpc>
              <a:spcBef>
                <a:spcPts val="0"/>
              </a:spcBef>
              <a:spcAft>
                <a:spcPts val="0"/>
              </a:spcAft>
              <a:buClr>
                <a:srgbClr val="DCD7E5"/>
              </a:buClr>
              <a:buSzPts val="1750"/>
              <a:buFont typeface="Montserrat" panose="00000500000000000000"/>
              <a:buNone/>
            </a:pPr>
            <a:r>
              <a:rPr lang="en-US" sz="175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Phase 3: Frontend &amp; Backend Integration</a:t>
            </a:r>
            <a:endParaRPr sz="1750" b="0" i="0" u="none" strike="noStrike" cap="none"/>
          </a:p>
        </p:txBody>
      </p:sp>
      <p:sp>
        <p:nvSpPr>
          <p:cNvPr id="349" name="Google Shape;349;p30"/>
          <p:cNvSpPr/>
          <p:nvPr/>
        </p:nvSpPr>
        <p:spPr>
          <a:xfrm>
            <a:off x="637818" y="3629263"/>
            <a:ext cx="5766197" cy="291584"/>
          </a:xfrm>
          <a:prstGeom prst="rect">
            <a:avLst/>
          </a:prstGeom>
          <a:noFill/>
          <a:ln>
            <a:noFill/>
          </a:ln>
        </p:spPr>
        <p:txBody>
          <a:bodyPr spcFirstLastPara="1" wrap="square" lIns="0" tIns="0" rIns="0" bIns="0" anchor="t" anchorCtr="0">
            <a:noAutofit/>
          </a:bodyPr>
          <a:lstStyle/>
          <a:p>
            <a:pPr marL="0" marR="0" lvl="0" indent="0" algn="r" rtl="0">
              <a:lnSpc>
                <a:spcPct val="161000"/>
              </a:lnSpc>
              <a:spcBef>
                <a:spcPts val="0"/>
              </a:spcBef>
              <a:spcAft>
                <a:spcPts val="0"/>
              </a:spcAft>
              <a:buClr>
                <a:srgbClr val="DCD7E5"/>
              </a:buClr>
              <a:buSzPts val="1400"/>
              <a:buFont typeface="Heebo"/>
              <a:buNone/>
            </a:pPr>
            <a:r>
              <a:rPr lang="en-US" sz="1400" b="0" i="0" u="none" strike="noStrike" cap="none">
                <a:solidFill>
                  <a:srgbClr val="DCD7E5"/>
                </a:solidFill>
                <a:latin typeface="Heebo"/>
                <a:ea typeface="Heebo"/>
                <a:cs typeface="Heebo"/>
                <a:sym typeface="Heebo"/>
              </a:rPr>
              <a:t>Developing query interface, API endpoints, and response handling</a:t>
            </a:r>
            <a:endParaRPr sz="1400" b="0" i="0" u="none" strike="noStrike" cap="none"/>
          </a:p>
        </p:txBody>
      </p:sp>
      <p:sp>
        <p:nvSpPr>
          <p:cNvPr id="350" name="Google Shape;350;p30"/>
          <p:cNvSpPr/>
          <p:nvPr/>
        </p:nvSpPr>
        <p:spPr>
          <a:xfrm>
            <a:off x="7497306" y="4271605"/>
            <a:ext cx="546616" cy="22860"/>
          </a:xfrm>
          <a:prstGeom prst="roundRect">
            <a:avLst>
              <a:gd name="adj" fmla="val 334832"/>
            </a:avLst>
          </a:prstGeom>
          <a:solidFill>
            <a:srgbClr val="4A2C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1" name="Google Shape;351;p30"/>
          <p:cNvSpPr/>
          <p:nvPr/>
        </p:nvSpPr>
        <p:spPr>
          <a:xfrm>
            <a:off x="7110234" y="4078129"/>
            <a:ext cx="409932" cy="409932"/>
          </a:xfrm>
          <a:prstGeom prst="roundRect">
            <a:avLst>
              <a:gd name="adj" fmla="val 18672"/>
            </a:avLst>
          </a:prstGeom>
          <a:solidFill>
            <a:srgbClr val="31136C"/>
          </a:solidFill>
          <a:ln w="9525" cap="flat" cmpd="sng">
            <a:solidFill>
              <a:srgbClr val="4A2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2" name="Google Shape;352;p30"/>
          <p:cNvSpPr/>
          <p:nvPr/>
        </p:nvSpPr>
        <p:spPr>
          <a:xfrm>
            <a:off x="7178516" y="4112240"/>
            <a:ext cx="273248" cy="34159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DCD7E5"/>
              </a:buClr>
              <a:buSzPts val="2150"/>
              <a:buFont typeface="Montserrat" panose="00000500000000000000"/>
              <a:buNone/>
            </a:pPr>
            <a:r>
              <a:rPr lang="en-US" sz="215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4</a:t>
            </a:r>
            <a:endParaRPr sz="2150" b="0" i="0" u="none" strike="noStrike" cap="none"/>
          </a:p>
        </p:txBody>
      </p:sp>
      <p:sp>
        <p:nvSpPr>
          <p:cNvPr id="353" name="Google Shape;353;p30"/>
          <p:cNvSpPr/>
          <p:nvPr/>
        </p:nvSpPr>
        <p:spPr>
          <a:xfrm>
            <a:off x="8226385" y="4055388"/>
            <a:ext cx="4320540" cy="284678"/>
          </a:xfrm>
          <a:prstGeom prst="rect">
            <a:avLst/>
          </a:prstGeom>
          <a:noFill/>
          <a:ln>
            <a:noFill/>
          </a:ln>
        </p:spPr>
        <p:txBody>
          <a:bodyPr spcFirstLastPara="1" wrap="square" lIns="0" tIns="0" rIns="0" bIns="0" anchor="t" anchorCtr="0">
            <a:noAutofit/>
          </a:bodyPr>
          <a:lstStyle/>
          <a:p>
            <a:pPr marL="0" marR="0" lvl="0" indent="0" algn="l" rtl="0">
              <a:lnSpc>
                <a:spcPct val="126000"/>
              </a:lnSpc>
              <a:spcBef>
                <a:spcPts val="0"/>
              </a:spcBef>
              <a:spcAft>
                <a:spcPts val="0"/>
              </a:spcAft>
              <a:buClr>
                <a:srgbClr val="DCD7E5"/>
              </a:buClr>
              <a:buSzPts val="1750"/>
              <a:buFont typeface="Montserrat" panose="00000500000000000000"/>
              <a:buNone/>
            </a:pPr>
            <a:r>
              <a:rPr lang="en-US" sz="175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Phase 4: Security Hardening &amp; Testing</a:t>
            </a:r>
            <a:endParaRPr sz="1750" b="0" i="0" u="none" strike="noStrike" cap="none"/>
          </a:p>
        </p:txBody>
      </p:sp>
      <p:sp>
        <p:nvSpPr>
          <p:cNvPr id="354" name="Google Shape;354;p30"/>
          <p:cNvSpPr/>
          <p:nvPr/>
        </p:nvSpPr>
        <p:spPr>
          <a:xfrm>
            <a:off x="8226385" y="4449366"/>
            <a:ext cx="5766197" cy="583168"/>
          </a:xfrm>
          <a:prstGeom prst="rect">
            <a:avLst/>
          </a:prstGeom>
          <a:noFill/>
          <a:ln>
            <a:noFill/>
          </a:ln>
        </p:spPr>
        <p:txBody>
          <a:bodyPr spcFirstLastPara="1" wrap="square" lIns="0" tIns="0" rIns="0" bIns="0" anchor="t" anchorCtr="0">
            <a:noAutofit/>
          </a:bodyPr>
          <a:lstStyle/>
          <a:p>
            <a:pPr marL="0" marR="0" lvl="0" indent="0" algn="l" rtl="0">
              <a:lnSpc>
                <a:spcPct val="161000"/>
              </a:lnSpc>
              <a:spcBef>
                <a:spcPts val="0"/>
              </a:spcBef>
              <a:spcAft>
                <a:spcPts val="0"/>
              </a:spcAft>
              <a:buClr>
                <a:srgbClr val="DCD7E5"/>
              </a:buClr>
              <a:buSzPts val="1400"/>
              <a:buFont typeface="Heebo"/>
              <a:buNone/>
            </a:pPr>
            <a:r>
              <a:rPr lang="en-US" sz="1400" b="0" i="0" u="none" strike="noStrike" cap="none">
                <a:solidFill>
                  <a:srgbClr val="DCD7E5"/>
                </a:solidFill>
                <a:latin typeface="Heebo"/>
                <a:ea typeface="Heebo"/>
                <a:cs typeface="Heebo"/>
                <a:sym typeface="Heebo"/>
              </a:rPr>
              <a:t>Implementing security controls, penetration testing, compliance verification</a:t>
            </a:r>
            <a:endParaRPr sz="1400" b="0" i="0" u="none" strike="noStrike" cap="none"/>
          </a:p>
        </p:txBody>
      </p:sp>
      <p:sp>
        <p:nvSpPr>
          <p:cNvPr id="355" name="Google Shape;355;p30"/>
          <p:cNvSpPr/>
          <p:nvPr/>
        </p:nvSpPr>
        <p:spPr>
          <a:xfrm>
            <a:off x="6586478" y="5091708"/>
            <a:ext cx="546616" cy="22860"/>
          </a:xfrm>
          <a:prstGeom prst="roundRect">
            <a:avLst>
              <a:gd name="adj" fmla="val 334832"/>
            </a:avLst>
          </a:prstGeom>
          <a:solidFill>
            <a:srgbClr val="4A2C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6" name="Google Shape;356;p30"/>
          <p:cNvSpPr/>
          <p:nvPr/>
        </p:nvSpPr>
        <p:spPr>
          <a:xfrm>
            <a:off x="7110234" y="4898231"/>
            <a:ext cx="409932" cy="409932"/>
          </a:xfrm>
          <a:prstGeom prst="roundRect">
            <a:avLst>
              <a:gd name="adj" fmla="val 18672"/>
            </a:avLst>
          </a:prstGeom>
          <a:solidFill>
            <a:srgbClr val="31136C"/>
          </a:solidFill>
          <a:ln w="9525" cap="flat" cmpd="sng">
            <a:solidFill>
              <a:srgbClr val="4A2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357" name="Google Shape;357;p30" descr="preencoded.png"/>
          <p:cNvPicPr preferRelativeResize="0"/>
          <p:nvPr/>
        </p:nvPicPr>
        <p:blipFill rotWithShape="1">
          <a:blip r:embed="rId4"/>
          <a:srcRect/>
          <a:stretch>
            <a:fillRect/>
          </a:stretch>
        </p:blipFill>
        <p:spPr>
          <a:xfrm>
            <a:off x="7178516" y="4932343"/>
            <a:ext cx="273248" cy="341590"/>
          </a:xfrm>
          <a:prstGeom prst="rect">
            <a:avLst/>
          </a:prstGeom>
          <a:noFill/>
          <a:ln>
            <a:noFill/>
          </a:ln>
        </p:spPr>
      </p:pic>
      <p:sp>
        <p:nvSpPr>
          <p:cNvPr id="358" name="Google Shape;358;p30"/>
          <p:cNvSpPr/>
          <p:nvPr/>
        </p:nvSpPr>
        <p:spPr>
          <a:xfrm>
            <a:off x="2441972" y="4875490"/>
            <a:ext cx="3962043" cy="284678"/>
          </a:xfrm>
          <a:prstGeom prst="rect">
            <a:avLst/>
          </a:prstGeom>
          <a:noFill/>
          <a:ln>
            <a:noFill/>
          </a:ln>
        </p:spPr>
        <p:txBody>
          <a:bodyPr spcFirstLastPara="1" wrap="square" lIns="0" tIns="0" rIns="0" bIns="0" anchor="t" anchorCtr="0">
            <a:noAutofit/>
          </a:bodyPr>
          <a:lstStyle/>
          <a:p>
            <a:pPr marL="0" marR="0" lvl="0" indent="0" algn="r" rtl="0">
              <a:lnSpc>
                <a:spcPct val="126000"/>
              </a:lnSpc>
              <a:spcBef>
                <a:spcPts val="0"/>
              </a:spcBef>
              <a:spcAft>
                <a:spcPts val="0"/>
              </a:spcAft>
              <a:buClr>
                <a:srgbClr val="DCD7E5"/>
              </a:buClr>
              <a:buSzPts val="1750"/>
              <a:buFont typeface="Montserrat" panose="00000500000000000000"/>
              <a:buNone/>
            </a:pPr>
            <a:r>
              <a:rPr lang="en-US" sz="1750" b="0" i="0" u="none" strike="noStrike" cap="none">
                <a:solidFill>
                  <a:srgbClr val="DCD7E5"/>
                </a:solidFill>
                <a:latin typeface="Montserrat" panose="00000500000000000000"/>
                <a:ea typeface="Montserrat" panose="00000500000000000000"/>
                <a:cs typeface="Montserrat" panose="00000500000000000000"/>
                <a:sym typeface="Montserrat" panose="00000500000000000000"/>
              </a:rPr>
              <a:t>Phase 5: Deployment &amp; Monitoring</a:t>
            </a:r>
            <a:endParaRPr sz="1750" b="0" i="0" u="none" strike="noStrike" cap="none"/>
          </a:p>
        </p:txBody>
      </p:sp>
      <p:sp>
        <p:nvSpPr>
          <p:cNvPr id="359" name="Google Shape;359;p30"/>
          <p:cNvSpPr/>
          <p:nvPr/>
        </p:nvSpPr>
        <p:spPr>
          <a:xfrm>
            <a:off x="637818" y="5269468"/>
            <a:ext cx="5766197" cy="291584"/>
          </a:xfrm>
          <a:prstGeom prst="rect">
            <a:avLst/>
          </a:prstGeom>
          <a:noFill/>
          <a:ln>
            <a:noFill/>
          </a:ln>
        </p:spPr>
        <p:txBody>
          <a:bodyPr spcFirstLastPara="1" wrap="square" lIns="0" tIns="0" rIns="0" bIns="0" anchor="t" anchorCtr="0">
            <a:noAutofit/>
          </a:bodyPr>
          <a:lstStyle/>
          <a:p>
            <a:pPr marL="0" marR="0" lvl="0" indent="0" algn="r" rtl="0">
              <a:lnSpc>
                <a:spcPct val="161000"/>
              </a:lnSpc>
              <a:spcBef>
                <a:spcPts val="0"/>
              </a:spcBef>
              <a:spcAft>
                <a:spcPts val="0"/>
              </a:spcAft>
              <a:buClr>
                <a:srgbClr val="DCD7E5"/>
              </a:buClr>
              <a:buSzPts val="1400"/>
              <a:buFont typeface="Heebo"/>
              <a:buNone/>
            </a:pPr>
            <a:r>
              <a:rPr lang="en-US" sz="1400" b="0" i="0" u="none" strike="noStrike" cap="none">
                <a:solidFill>
                  <a:srgbClr val="DCD7E5"/>
                </a:solidFill>
                <a:latin typeface="Heebo"/>
                <a:ea typeface="Heebo"/>
                <a:cs typeface="Heebo"/>
                <a:sym typeface="Heebo"/>
              </a:rPr>
              <a:t>Production rollout, performance monitoring, user feedback collection</a:t>
            </a:r>
            <a:endParaRPr sz="1400" b="0" i="0" u="none" strike="noStrike" cap="none"/>
          </a:p>
        </p:txBody>
      </p:sp>
      <p:sp>
        <p:nvSpPr>
          <p:cNvPr id="360" name="Google Shape;360;p30"/>
          <p:cNvSpPr/>
          <p:nvPr/>
        </p:nvSpPr>
        <p:spPr>
          <a:xfrm>
            <a:off x="637818" y="6356271"/>
            <a:ext cx="13354764" cy="583168"/>
          </a:xfrm>
          <a:prstGeom prst="rect">
            <a:avLst/>
          </a:prstGeom>
          <a:noFill/>
          <a:ln>
            <a:noFill/>
          </a:ln>
        </p:spPr>
        <p:txBody>
          <a:bodyPr spcFirstLastPara="1" wrap="square" lIns="0" tIns="0" rIns="0" bIns="0" anchor="t" anchorCtr="0">
            <a:noAutofit/>
          </a:bodyPr>
          <a:lstStyle/>
          <a:p>
            <a:pPr marL="0" marR="0" lvl="0" indent="0" algn="l" rtl="0">
              <a:lnSpc>
                <a:spcPct val="161000"/>
              </a:lnSpc>
              <a:spcBef>
                <a:spcPts val="0"/>
              </a:spcBef>
              <a:spcAft>
                <a:spcPts val="0"/>
              </a:spcAft>
              <a:buClr>
                <a:srgbClr val="DCD7E5"/>
              </a:buClr>
              <a:buSzPts val="1400"/>
              <a:buFont typeface="Heebo"/>
              <a:buNone/>
            </a:pPr>
            <a:r>
              <a:rPr lang="en-US" sz="1400" b="0" i="0" u="none" strike="noStrike" cap="none">
                <a:solidFill>
                  <a:srgbClr val="DCD7E5"/>
                </a:solidFill>
                <a:latin typeface="Heebo"/>
                <a:ea typeface="Heebo"/>
                <a:cs typeface="Heebo"/>
                <a:sym typeface="Heebo"/>
              </a:rPr>
              <a:t>This cloud-native approach provides Mount Sinai with a scalable, secure platform for AI-powered patient interactions. The microservices architecture ensures maintenance and updates can occur without disrupting the entire system.</a:t>
            </a:r>
            <a:endParaRPr sz="1400" b="0" i="0" u="none" strike="noStrike" cap="none"/>
          </a:p>
        </p:txBody>
      </p:sp>
      <p:sp>
        <p:nvSpPr>
          <p:cNvPr id="361" name="Google Shape;361;p30"/>
          <p:cNvSpPr/>
          <p:nvPr/>
        </p:nvSpPr>
        <p:spPr>
          <a:xfrm>
            <a:off x="637818" y="7144345"/>
            <a:ext cx="13354764" cy="583168"/>
          </a:xfrm>
          <a:prstGeom prst="rect">
            <a:avLst/>
          </a:prstGeom>
          <a:noFill/>
          <a:ln>
            <a:noFill/>
          </a:ln>
        </p:spPr>
        <p:txBody>
          <a:bodyPr spcFirstLastPara="1" wrap="square" lIns="0" tIns="0" rIns="0" bIns="0" anchor="t" anchorCtr="0">
            <a:noAutofit/>
          </a:bodyPr>
          <a:lstStyle/>
          <a:p>
            <a:pPr marL="0" marR="0" lvl="0" indent="0" algn="l" rtl="0">
              <a:lnSpc>
                <a:spcPct val="161000"/>
              </a:lnSpc>
              <a:spcBef>
                <a:spcPts val="0"/>
              </a:spcBef>
              <a:spcAft>
                <a:spcPts val="0"/>
              </a:spcAft>
              <a:buClr>
                <a:srgbClr val="DCD7E5"/>
              </a:buClr>
              <a:buSzPts val="1400"/>
              <a:buFont typeface="Heebo"/>
              <a:buNone/>
            </a:pPr>
            <a:r>
              <a:rPr lang="en-US" sz="1400" b="0" i="0" u="none" strike="noStrike" cap="none">
                <a:solidFill>
                  <a:srgbClr val="DCD7E5"/>
                </a:solidFill>
                <a:latin typeface="Heebo"/>
                <a:ea typeface="Heebo"/>
                <a:cs typeface="Heebo"/>
                <a:sym typeface="Heebo"/>
              </a:rPr>
              <a:t>By leveraging Kubernetes, Azure services, and modern DevOps practices, I have created a solution that can grow and evolve alongside Mount Sinai's needs and technological advancements in healthcare AI.</a:t>
            </a:r>
            <a:endParaRPr sz="1400" b="0" i="0" u="none" strike="noStrike" cap="none"/>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7094</Words>
  <Application>WPS Slides</Application>
  <PresentationFormat/>
  <Paragraphs>260</Paragraphs>
  <Slides>14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14</vt:i4>
      </vt:variant>
    </vt:vector>
  </HeadingPairs>
  <TitlesOfParts>
    <vt:vector size="24" baseType="lpstr">
      <vt:lpstr>Arial</vt:lpstr>
      <vt:lpstr>SimSun</vt:lpstr>
      <vt:lpstr>Wingdings</vt:lpstr>
      <vt:lpstr>Arial</vt:lpstr>
      <vt:lpstr>Calibri</vt:lpstr>
      <vt:lpstr>Montserrat</vt:lpstr>
      <vt:lpstr>Heebo</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Shaan</cp:lastModifiedBy>
  <cp:revision>4</cp:revision>
  <dcterms:created xsi:type="dcterms:W3CDTF">2025-04-14T13:08:00Z</dcterms:created>
  <dcterms:modified xsi:type="dcterms:W3CDTF">2025-04-14T14:18:25Z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78AF5338DA5E46139376260C4807AB65_12</vt:lpwstr>
  </property>
  <property fmtid="{D5CDD505-2E9C-101B-9397-08002B2CF9AE}" pid="3" name="KSOProductBuildVer">
    <vt:lpwstr>1033-12.2.0.20782</vt:lpwstr>
  </property>
</Properties>
</file>